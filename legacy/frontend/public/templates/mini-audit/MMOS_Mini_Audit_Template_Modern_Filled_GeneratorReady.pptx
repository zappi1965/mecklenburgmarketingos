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_BACKGROUND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_HERO_DARK"/>
          <p:cNvSpPr/>
          <p:nvPr/>
        </p:nvSpPr>
        <p:spPr>
          <a:xfrm>
            <a:off x="0" y="0"/>
            <a:ext cx="7562088" cy="45720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VER_TOP_BLUE"/>
          <p:cNvSpPr/>
          <p:nvPr/>
        </p:nvSpPr>
        <p:spPr>
          <a:xfrm>
            <a:off x="0" y="0"/>
            <a:ext cx="7562088" cy="635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VER_TOP_PURPLE"/>
          <p:cNvSpPr/>
          <p:nvPr/>
        </p:nvSpPr>
        <p:spPr>
          <a:xfrm>
            <a:off x="0" y="63500"/>
            <a:ext cx="7562088" cy="3175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VER_DECOR_DARK_CIRCLE"/>
          <p:cNvSpPr/>
          <p:nvPr/>
        </p:nvSpPr>
        <p:spPr>
          <a:xfrm>
            <a:off x="6035040" y="502920"/>
            <a:ext cx="1572768" cy="1572768"/>
          </a:xfrm>
          <a:prstGeom prst="ellipse">
            <a:avLst/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VER_DECOR_PURPLE_CIRCLE"/>
          <p:cNvSpPr/>
          <p:nvPr/>
        </p:nvSpPr>
        <p:spPr>
          <a:xfrm>
            <a:off x="6327648" y="786384"/>
            <a:ext cx="804672" cy="804672"/>
          </a:xfrm>
          <a:prstGeom prst="ellipse">
            <a:avLst/>
          </a:prstGeom>
          <a:solidFill>
            <a:srgbClr val="312E81"/>
          </a:solidFill>
          <a:ln>
            <a:solidFill>
              <a:srgbClr val="312E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VER_DECOR_LEFT_CIRCLE"/>
          <p:cNvSpPr/>
          <p:nvPr/>
        </p:nvSpPr>
        <p:spPr>
          <a:xfrm>
            <a:off x="-256032" y="3840480"/>
            <a:ext cx="1234440" cy="1234440"/>
          </a:xfrm>
          <a:prstGeom prst="ellipse">
            <a:avLst/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GO_MARK"/>
          <p:cNvSpPr/>
          <p:nvPr/>
        </p:nvSpPr>
        <p:spPr>
          <a:xfrm>
            <a:off x="566928" y="475488"/>
            <a:ext cx="566928" cy="566928"/>
          </a:xfrm>
          <a:prstGeom prst="roundRect">
            <a:avLst>
              <a:gd name="adj" fmla="val 23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300" b="1">
                <a:solidFill>
                  <a:srgbClr val="0B1220"/>
                </a:solidFill>
                <a:latin typeface="Arial"/>
              </a:rPr>
              <a:t>M</a:t>
            </a:r>
          </a:p>
        </p:txBody>
      </p:sp>
      <p:sp>
        <p:nvSpPr>
          <p:cNvPr id="10" name="LOGO_ACCENT_BLUE"/>
          <p:cNvSpPr/>
          <p:nvPr/>
        </p:nvSpPr>
        <p:spPr>
          <a:xfrm>
            <a:off x="996696" y="530352"/>
            <a:ext cx="50292" cy="3657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OGO_ACCENT_PURPLE"/>
          <p:cNvSpPr/>
          <p:nvPr/>
        </p:nvSpPr>
        <p:spPr>
          <a:xfrm>
            <a:off x="1051560" y="530352"/>
            <a:ext cx="27432" cy="3657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OGO_TEXT_MAIN"/>
          <p:cNvSpPr txBox="1"/>
          <p:nvPr/>
        </p:nvSpPr>
        <p:spPr>
          <a:xfrm>
            <a:off x="1280160" y="548640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1" i="0">
                <a:solidFill>
                  <a:srgbClr val="FFFFFF"/>
                </a:solidFill>
                <a:latin typeface="Arial"/>
              </a:rPr>
              <a:t>Mecklenburg Marketing</a:t>
            </a:r>
          </a:p>
        </p:txBody>
      </p:sp>
      <p:sp>
        <p:nvSpPr>
          <p:cNvPr id="13" name="LOGO_TEXT_SUB"/>
          <p:cNvSpPr txBox="1"/>
          <p:nvPr/>
        </p:nvSpPr>
        <p:spPr>
          <a:xfrm>
            <a:off x="1280160" y="768096"/>
            <a:ext cx="164592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0">
                <a:solidFill>
                  <a:srgbClr val="CBD5E1"/>
                </a:solidFill>
                <a:latin typeface="Arial"/>
              </a:rPr>
              <a:t>Local Growth OS</a:t>
            </a:r>
          </a:p>
        </p:txBody>
      </p:sp>
      <p:sp>
        <p:nvSpPr>
          <p:cNvPr id="14" name="COVER_DATE_BADGE"/>
          <p:cNvSpPr/>
          <p:nvPr/>
        </p:nvSpPr>
        <p:spPr>
          <a:xfrm>
            <a:off x="5413248" y="530352"/>
            <a:ext cx="1444752" cy="310896"/>
          </a:xfrm>
          <a:prstGeom prst="roundRect">
            <a:avLst>
              <a:gd name="adj" fmla="val 30000"/>
            </a:avLst>
          </a:prstGeom>
          <a:solidFill>
            <a:srgbClr val="EDE9FE"/>
          </a:solidFill>
          <a:ln w="889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7C3AED"/>
                </a:solidFill>
                <a:latin typeface="Arial"/>
              </a:rPr>
              <a:t>{{AUDIT_DATE}}</a:t>
            </a:r>
          </a:p>
        </p:txBody>
      </p:sp>
      <p:sp>
        <p:nvSpPr>
          <p:cNvPr id="15" name="COVER_TYPE_BADGE"/>
          <p:cNvSpPr/>
          <p:nvPr/>
        </p:nvSpPr>
        <p:spPr>
          <a:xfrm>
            <a:off x="4160520" y="530352"/>
            <a:ext cx="1097280" cy="310896"/>
          </a:xfrm>
          <a:prstGeom prst="roundRect">
            <a:avLst>
              <a:gd name="adj" fmla="val 30000"/>
            </a:avLst>
          </a:prstGeom>
          <a:solidFill>
            <a:srgbClr val="EFF6FF"/>
          </a:solidFill>
          <a:ln w="889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2563EB"/>
                </a:solidFill>
                <a:latin typeface="Arial"/>
              </a:rPr>
              <a:t>Mini-Audit</a:t>
            </a:r>
          </a:p>
        </p:txBody>
      </p:sp>
      <p:sp>
        <p:nvSpPr>
          <p:cNvPr id="16" name="COVER_AUDIT_SUBTITLE"/>
          <p:cNvSpPr txBox="1"/>
          <p:nvPr/>
        </p:nvSpPr>
        <p:spPr>
          <a:xfrm>
            <a:off x="658368" y="1353312"/>
            <a:ext cx="416052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93C5FD"/>
                </a:solidFill>
                <a:latin typeface="Arial"/>
              </a:rPr>
              <a:t>Google-Sichtbarkeitscheck</a:t>
            </a:r>
          </a:p>
        </p:txBody>
      </p:sp>
      <p:sp>
        <p:nvSpPr>
          <p:cNvPr id="17" name="COVER_AUDIT_TITLE"/>
          <p:cNvSpPr txBox="1"/>
          <p:nvPr/>
        </p:nvSpPr>
        <p:spPr>
          <a:xfrm>
            <a:off x="658368" y="1682496"/>
            <a:ext cx="431596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Mini-Audit
für lokale Betriebe</a:t>
            </a:r>
          </a:p>
        </p:txBody>
      </p:sp>
      <p:sp>
        <p:nvSpPr>
          <p:cNvPr id="18" name="COVER_HERO_TEXT"/>
          <p:cNvSpPr txBox="1"/>
          <p:nvPr/>
        </p:nvSpPr>
        <p:spPr>
          <a:xfrm>
            <a:off x="658368" y="2761488"/>
            <a:ext cx="4160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 i="0">
                <a:solidFill>
                  <a:srgbClr val="CBD5E1"/>
                </a:solidFill>
                <a:latin typeface="Arial"/>
              </a:rPr>
              <a:t>Ein professioneller Überblick über Sichtbarkeit, Bewertungen, Profilqualität und konkrete Sofortmaßnahmen.</a:t>
            </a:r>
          </a:p>
        </p:txBody>
      </p:sp>
      <p:sp>
        <p:nvSpPr>
          <p:cNvPr id="19" name="COVER_SERVICE_1"/>
          <p:cNvSpPr/>
          <p:nvPr/>
        </p:nvSpPr>
        <p:spPr>
          <a:xfrm>
            <a:off x="658368" y="3511296"/>
            <a:ext cx="1700784" cy="32918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889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2563EB"/>
                </a:solidFill>
                <a:latin typeface="Arial"/>
              </a:rPr>
              <a:t>Google Business Profile</a:t>
            </a:r>
          </a:p>
        </p:txBody>
      </p:sp>
      <p:sp>
        <p:nvSpPr>
          <p:cNvPr id="20" name="COVER_SERVICE_2"/>
          <p:cNvSpPr/>
          <p:nvPr/>
        </p:nvSpPr>
        <p:spPr>
          <a:xfrm>
            <a:off x="2496312" y="3511296"/>
            <a:ext cx="1170432" cy="329184"/>
          </a:xfrm>
          <a:prstGeom prst="roundRect">
            <a:avLst>
              <a:gd name="adj" fmla="val 25000"/>
            </a:avLst>
          </a:prstGeom>
          <a:solidFill>
            <a:srgbClr val="F3E8FF"/>
          </a:solidFill>
          <a:ln w="8890">
            <a:solidFill>
              <a:srgbClr val="F3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7C3AED"/>
                </a:solidFill>
                <a:latin typeface="Arial"/>
              </a:rPr>
              <a:t>Bewertungen</a:t>
            </a:r>
          </a:p>
        </p:txBody>
      </p:sp>
      <p:sp>
        <p:nvSpPr>
          <p:cNvPr id="21" name="COVER_SERVICE_3"/>
          <p:cNvSpPr/>
          <p:nvPr/>
        </p:nvSpPr>
        <p:spPr>
          <a:xfrm>
            <a:off x="3803904" y="3511296"/>
            <a:ext cx="1243584" cy="329184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889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10B981"/>
                </a:solidFill>
                <a:latin typeface="Arial"/>
              </a:rPr>
              <a:t>QR-Kampagnen</a:t>
            </a:r>
          </a:p>
        </p:txBody>
      </p:sp>
      <p:sp>
        <p:nvSpPr>
          <p:cNvPr id="22" name="COVER_CLIENT_CARD"/>
          <p:cNvSpPr/>
          <p:nvPr/>
        </p:nvSpPr>
        <p:spPr>
          <a:xfrm>
            <a:off x="4690872" y="1371600"/>
            <a:ext cx="2359152" cy="2670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VER_CLIENT_PRE_BADGE"/>
          <p:cNvSpPr/>
          <p:nvPr/>
        </p:nvSpPr>
        <p:spPr>
          <a:xfrm>
            <a:off x="4910328" y="1627632"/>
            <a:ext cx="987552" cy="292608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 w="889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2563EB"/>
                </a:solidFill>
                <a:latin typeface="Arial"/>
              </a:rPr>
              <a:t>Kunde</a:t>
            </a:r>
          </a:p>
        </p:txBody>
      </p:sp>
      <p:sp>
        <p:nvSpPr>
          <p:cNvPr id="24" name="COVER_CLIENT_NAME"/>
          <p:cNvSpPr txBox="1"/>
          <p:nvPr/>
        </p:nvSpPr>
        <p:spPr>
          <a:xfrm>
            <a:off x="4901184" y="2084831"/>
            <a:ext cx="1874519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0B1220"/>
                </a:solidFill>
                <a:latin typeface="Arial"/>
              </a:rPr>
              <a:t>{{CLIENT_NAME}}</a:t>
            </a:r>
          </a:p>
        </p:txBody>
      </p:sp>
      <p:sp>
        <p:nvSpPr>
          <p:cNvPr id="25" name="COVER_CLIENT_BRANCH"/>
          <p:cNvSpPr txBox="1"/>
          <p:nvPr/>
        </p:nvSpPr>
        <p:spPr>
          <a:xfrm>
            <a:off x="4901184" y="2679192"/>
            <a:ext cx="1783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Arial"/>
              </a:rPr>
              <a:t>{{BRANCH}}</a:t>
            </a:r>
          </a:p>
        </p:txBody>
      </p:sp>
      <p:sp>
        <p:nvSpPr>
          <p:cNvPr id="26" name="COVER_CLIENT_LOCATION"/>
          <p:cNvSpPr txBox="1"/>
          <p:nvPr/>
        </p:nvSpPr>
        <p:spPr>
          <a:xfrm>
            <a:off x="4901184" y="2971800"/>
            <a:ext cx="1783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Arial"/>
              </a:rPr>
              <a:t>{{LOCATION}}</a:t>
            </a:r>
          </a:p>
        </p:txBody>
      </p:sp>
      <p:sp>
        <p:nvSpPr>
          <p:cNvPr id="27" name="COVER_OVERALL_STATUS_BADGE"/>
          <p:cNvSpPr/>
          <p:nvPr/>
        </p:nvSpPr>
        <p:spPr>
          <a:xfrm>
            <a:off x="4901184" y="3401568"/>
            <a:ext cx="1444752" cy="347472"/>
          </a:xfrm>
          <a:prstGeom prst="roundRect">
            <a:avLst>
              <a:gd name="adj" fmla="val 18000"/>
            </a:avLst>
          </a:prstGeom>
          <a:solidFill>
            <a:srgbClr val="FCE7EE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19" b="1">
                <a:solidFill>
                  <a:srgbClr val="BE123C"/>
                </a:solidFill>
                <a:latin typeface="Arial"/>
              </a:rPr>
              <a:t>{{OVERALL_STATUS}}</a:t>
            </a:r>
          </a:p>
        </p:txBody>
      </p:sp>
      <p:sp>
        <p:nvSpPr>
          <p:cNvPr id="28" name="COVER_OVERALL_STATUS_DOT"/>
          <p:cNvSpPr/>
          <p:nvPr/>
        </p:nvSpPr>
        <p:spPr>
          <a:xfrm>
            <a:off x="6428232" y="3474720"/>
            <a:ext cx="109728" cy="109728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VER_MAIN_PANEL"/>
          <p:cNvSpPr/>
          <p:nvPr/>
        </p:nvSpPr>
        <p:spPr>
          <a:xfrm>
            <a:off x="530352" y="4315968"/>
            <a:ext cx="6510528" cy="4983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VER_VALUE_TITLE"/>
          <p:cNvSpPr txBox="1"/>
          <p:nvPr/>
        </p:nvSpPr>
        <p:spPr>
          <a:xfrm>
            <a:off x="822960" y="459028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1220"/>
                </a:solidFill>
                <a:latin typeface="Arial"/>
              </a:rPr>
              <a:t>Was dieses Audit liefert</a:t>
            </a:r>
          </a:p>
        </p:txBody>
      </p:sp>
      <p:sp>
        <p:nvSpPr>
          <p:cNvPr id="31" name="COVER_GOAL_TEXT"/>
          <p:cNvSpPr txBox="1"/>
          <p:nvPr/>
        </p:nvSpPr>
        <p:spPr>
          <a:xfrm>
            <a:off x="822960" y="4928616"/>
            <a:ext cx="5440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475569"/>
                </a:solidFill>
                <a:latin typeface="Arial"/>
              </a:rPr>
              <a:t>{{COVER_GOAL_TEXT}}</a:t>
            </a:r>
          </a:p>
        </p:txBody>
      </p:sp>
      <p:sp>
        <p:nvSpPr>
          <p:cNvPr id="32" name="COVER_STEP_CARD_1"/>
          <p:cNvSpPr/>
          <p:nvPr/>
        </p:nvSpPr>
        <p:spPr>
          <a:xfrm>
            <a:off x="822960" y="5577840"/>
            <a:ext cx="1737360" cy="107899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VER_STEP_CARD_1_NUMBER_CIRCLE"/>
          <p:cNvSpPr/>
          <p:nvPr/>
        </p:nvSpPr>
        <p:spPr>
          <a:xfrm>
            <a:off x="950976" y="5742432"/>
            <a:ext cx="310896" cy="310896"/>
          </a:xfrm>
          <a:prstGeom prst="ellipse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563EB"/>
                </a:solidFill>
                <a:latin typeface="Arial"/>
              </a:rPr>
              <a:t>1</a:t>
            </a:r>
          </a:p>
        </p:txBody>
      </p:sp>
      <p:sp>
        <p:nvSpPr>
          <p:cNvPr id="34" name="COVER_STEP_CARD_1_TITLE"/>
          <p:cNvSpPr txBox="1"/>
          <p:nvPr/>
        </p:nvSpPr>
        <p:spPr>
          <a:xfrm>
            <a:off x="1371600" y="566928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 i="0">
                <a:solidFill>
                  <a:srgbClr val="0B1220"/>
                </a:solidFill>
                <a:latin typeface="Arial"/>
              </a:rPr>
              <a:t>Kurz-Check</a:t>
            </a:r>
          </a:p>
        </p:txBody>
      </p:sp>
      <p:sp>
        <p:nvSpPr>
          <p:cNvPr id="35" name="COVER_STEP_CARD_1_TEXT"/>
          <p:cNvSpPr txBox="1"/>
          <p:nvPr/>
        </p:nvSpPr>
        <p:spPr>
          <a:xfrm>
            <a:off x="1371600" y="5961888"/>
            <a:ext cx="10241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0" i="0">
                <a:solidFill>
                  <a:srgbClr val="64748B"/>
                </a:solidFill>
                <a:latin typeface="Arial"/>
              </a:rPr>
              <a:t>Status je Bereich mit Ampelfarben</a:t>
            </a:r>
          </a:p>
        </p:txBody>
      </p:sp>
      <p:sp>
        <p:nvSpPr>
          <p:cNvPr id="36" name="COVER_STEP_CARD_2"/>
          <p:cNvSpPr/>
          <p:nvPr/>
        </p:nvSpPr>
        <p:spPr>
          <a:xfrm>
            <a:off x="2834640" y="5577840"/>
            <a:ext cx="1737360" cy="107899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VER_STEP_CARD_2_NUMBER_CIRCLE"/>
          <p:cNvSpPr/>
          <p:nvPr/>
        </p:nvSpPr>
        <p:spPr>
          <a:xfrm>
            <a:off x="2962656" y="5742432"/>
            <a:ext cx="310896" cy="310896"/>
          </a:xfrm>
          <a:prstGeom prst="ellipse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7C3AED"/>
                </a:solidFill>
                <a:latin typeface="Arial"/>
              </a:rPr>
              <a:t>2</a:t>
            </a:r>
          </a:p>
        </p:txBody>
      </p:sp>
      <p:sp>
        <p:nvSpPr>
          <p:cNvPr id="38" name="COVER_STEP_CARD_2_TITLE"/>
          <p:cNvSpPr txBox="1"/>
          <p:nvPr/>
        </p:nvSpPr>
        <p:spPr>
          <a:xfrm>
            <a:off x="3383280" y="566928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 i="0">
                <a:solidFill>
                  <a:srgbClr val="0B1220"/>
                </a:solidFill>
                <a:latin typeface="Arial"/>
              </a:rPr>
              <a:t>Chancen</a:t>
            </a:r>
          </a:p>
        </p:txBody>
      </p:sp>
      <p:sp>
        <p:nvSpPr>
          <p:cNvPr id="39" name="COVER_STEP_CARD_2_TEXT"/>
          <p:cNvSpPr txBox="1"/>
          <p:nvPr/>
        </p:nvSpPr>
        <p:spPr>
          <a:xfrm>
            <a:off x="3383280" y="5961888"/>
            <a:ext cx="10241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0" i="0">
                <a:solidFill>
                  <a:srgbClr val="64748B"/>
                </a:solidFill>
                <a:latin typeface="Arial"/>
              </a:rPr>
              <a:t>die 3 wichtigsten Hebel</a:t>
            </a:r>
          </a:p>
        </p:txBody>
      </p:sp>
      <p:sp>
        <p:nvSpPr>
          <p:cNvPr id="40" name="COVER_STEP_CARD_3"/>
          <p:cNvSpPr/>
          <p:nvPr/>
        </p:nvSpPr>
        <p:spPr>
          <a:xfrm>
            <a:off x="4846320" y="5577840"/>
            <a:ext cx="1737360" cy="107899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OVER_STEP_CARD_3_NUMBER_CIRCLE"/>
          <p:cNvSpPr/>
          <p:nvPr/>
        </p:nvSpPr>
        <p:spPr>
          <a:xfrm>
            <a:off x="4974336" y="5742432"/>
            <a:ext cx="310896" cy="310896"/>
          </a:xfrm>
          <a:prstGeom prst="ellipse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0B981"/>
                </a:solidFill>
                <a:latin typeface="Arial"/>
              </a:rPr>
              <a:t>3</a:t>
            </a:r>
          </a:p>
        </p:txBody>
      </p:sp>
      <p:sp>
        <p:nvSpPr>
          <p:cNvPr id="42" name="COVER_STEP_CARD_3_TITLE"/>
          <p:cNvSpPr txBox="1"/>
          <p:nvPr/>
        </p:nvSpPr>
        <p:spPr>
          <a:xfrm>
            <a:off x="5394960" y="566928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80" b="1" i="0">
                <a:solidFill>
                  <a:srgbClr val="0B1220"/>
                </a:solidFill>
                <a:latin typeface="Arial"/>
              </a:rPr>
              <a:t>Maßnahmen</a:t>
            </a:r>
          </a:p>
        </p:txBody>
      </p:sp>
      <p:sp>
        <p:nvSpPr>
          <p:cNvPr id="43" name="COVER_STEP_CARD_3_TEXT"/>
          <p:cNvSpPr txBox="1"/>
          <p:nvPr/>
        </p:nvSpPr>
        <p:spPr>
          <a:xfrm>
            <a:off x="5394960" y="5961888"/>
            <a:ext cx="10241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90" b="0" i="0">
                <a:solidFill>
                  <a:srgbClr val="64748B"/>
                </a:solidFill>
                <a:latin typeface="Arial"/>
              </a:rPr>
              <a:t>Aufwand &amp; Wirkung je Aufgabe</a:t>
            </a:r>
          </a:p>
        </p:txBody>
      </p:sp>
      <p:sp>
        <p:nvSpPr>
          <p:cNvPr id="44" name="COVER_SCOREBOARD"/>
          <p:cNvSpPr/>
          <p:nvPr/>
        </p:nvSpPr>
        <p:spPr>
          <a:xfrm>
            <a:off x="822960" y="6967728"/>
            <a:ext cx="5925312" cy="10058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OVER_SCORE_LABEL_1"/>
          <p:cNvSpPr txBox="1"/>
          <p:nvPr/>
        </p:nvSpPr>
        <p:spPr>
          <a:xfrm>
            <a:off x="1024128" y="7150608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rial"/>
              </a:rPr>
              <a:t>Bewertung</a:t>
            </a:r>
          </a:p>
        </p:txBody>
      </p:sp>
      <p:sp>
        <p:nvSpPr>
          <p:cNvPr id="46" name="COVER_AVG_RATING"/>
          <p:cNvSpPr txBox="1"/>
          <p:nvPr/>
        </p:nvSpPr>
        <p:spPr>
          <a:xfrm>
            <a:off x="1024128" y="7434072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1220"/>
                </a:solidFill>
                <a:latin typeface="Arial"/>
              </a:rPr>
              <a:t>{{AVG_RATING}}</a:t>
            </a:r>
          </a:p>
        </p:txBody>
      </p:sp>
      <p:sp>
        <p:nvSpPr>
          <p:cNvPr id="47" name="COVER_SCORE_VLINE_1"/>
          <p:cNvSpPr/>
          <p:nvPr/>
        </p:nvSpPr>
        <p:spPr>
          <a:xfrm>
            <a:off x="2359152" y="7132320"/>
            <a:ext cx="15240" cy="54864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OVER_SCORE_LABEL_2"/>
          <p:cNvSpPr txBox="1"/>
          <p:nvPr/>
        </p:nvSpPr>
        <p:spPr>
          <a:xfrm>
            <a:off x="2615184" y="7150608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rial"/>
              </a:rPr>
              <a:t>Rezensionen</a:t>
            </a:r>
          </a:p>
        </p:txBody>
      </p:sp>
      <p:sp>
        <p:nvSpPr>
          <p:cNvPr id="49" name="COVER_REVIEWS_COUNT"/>
          <p:cNvSpPr txBox="1"/>
          <p:nvPr/>
        </p:nvSpPr>
        <p:spPr>
          <a:xfrm>
            <a:off x="2615184" y="7434072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B1220"/>
                </a:solidFill>
                <a:latin typeface="Arial"/>
              </a:rPr>
              <a:t>{{REVIEWS_COUNT}}</a:t>
            </a:r>
          </a:p>
        </p:txBody>
      </p:sp>
      <p:sp>
        <p:nvSpPr>
          <p:cNvPr id="50" name="COVER_SCORE_VLINE_2"/>
          <p:cNvSpPr/>
          <p:nvPr/>
        </p:nvSpPr>
        <p:spPr>
          <a:xfrm>
            <a:off x="4041648" y="7132320"/>
            <a:ext cx="15240" cy="54864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OVER_SCORE_LABEL_3"/>
          <p:cNvSpPr txBox="1"/>
          <p:nvPr/>
        </p:nvSpPr>
        <p:spPr>
          <a:xfrm>
            <a:off x="4315968" y="7150608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rial"/>
              </a:rPr>
              <a:t>Gesamteindruck</a:t>
            </a:r>
          </a:p>
        </p:txBody>
      </p:sp>
      <p:sp>
        <p:nvSpPr>
          <p:cNvPr id="52" name="COVER_OVERALL_SUMMARY_SHORT"/>
          <p:cNvSpPr txBox="1"/>
          <p:nvPr/>
        </p:nvSpPr>
        <p:spPr>
          <a:xfrm>
            <a:off x="4315968" y="7434072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{{OVERALL_SUMMARY_SHORT}}</a:t>
            </a:r>
          </a:p>
        </p:txBody>
      </p:sp>
      <p:sp>
        <p:nvSpPr>
          <p:cNvPr id="53" name="COVER_NEXT_STEP_CARD"/>
          <p:cNvSpPr/>
          <p:nvPr/>
        </p:nvSpPr>
        <p:spPr>
          <a:xfrm>
            <a:off x="822960" y="8266175"/>
            <a:ext cx="5925312" cy="65836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016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OVER_NEXT_STEP_ICON"/>
          <p:cNvSpPr/>
          <p:nvPr/>
        </p:nvSpPr>
        <p:spPr>
          <a:xfrm>
            <a:off x="1024128" y="8421624"/>
            <a:ext cx="329184" cy="329184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OVER_NEXT_STEP_ARROW"/>
          <p:cNvSpPr txBox="1"/>
          <p:nvPr/>
        </p:nvSpPr>
        <p:spPr>
          <a:xfrm>
            <a:off x="1024128" y="8458200"/>
            <a:ext cx="329184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56" name="COVER_NEXT_STEP_TITLE"/>
          <p:cNvSpPr txBox="1"/>
          <p:nvPr/>
        </p:nvSpPr>
        <p:spPr>
          <a:xfrm>
            <a:off x="1481328" y="837590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7C3AED"/>
                </a:solidFill>
                <a:latin typeface="Arial"/>
              </a:rPr>
              <a:t>Nächster Schritt</a:t>
            </a:r>
          </a:p>
        </p:txBody>
      </p:sp>
      <p:sp>
        <p:nvSpPr>
          <p:cNvPr id="57" name="COVER_NEXT_STEP_CTA"/>
          <p:cNvSpPr txBox="1"/>
          <p:nvPr/>
        </p:nvSpPr>
        <p:spPr>
          <a:xfrm>
            <a:off x="2852928" y="8375904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0B1220"/>
                </a:solidFill>
                <a:latin typeface="Arial"/>
              </a:rPr>
              <a:t>{{NEXT_STEP_CTA}}</a:t>
            </a:r>
          </a:p>
        </p:txBody>
      </p:sp>
      <p:sp>
        <p:nvSpPr>
          <p:cNvPr id="58" name="COVER_FOOTER_LINE"/>
          <p:cNvSpPr/>
          <p:nvPr/>
        </p:nvSpPr>
        <p:spPr>
          <a:xfrm>
            <a:off x="530352" y="9555480"/>
            <a:ext cx="6510528" cy="15240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OOTER_COMPANY"/>
          <p:cNvSpPr txBox="1"/>
          <p:nvPr/>
        </p:nvSpPr>
        <p:spPr>
          <a:xfrm>
            <a:off x="658368" y="9765792"/>
            <a:ext cx="1783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0B1220"/>
                </a:solidFill>
                <a:latin typeface="Arial"/>
              </a:rPr>
              <a:t>Mecklenburg Marketing</a:t>
            </a:r>
          </a:p>
        </p:txBody>
      </p:sp>
      <p:sp>
        <p:nvSpPr>
          <p:cNvPr id="60" name="FOOTER_CONTACT"/>
          <p:cNvSpPr txBox="1"/>
          <p:nvPr/>
        </p:nvSpPr>
        <p:spPr>
          <a:xfrm>
            <a:off x="658368" y="10012680"/>
            <a:ext cx="3566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0" b="0" i="0">
                <a:solidFill>
                  <a:srgbClr val="475569"/>
                </a:solidFill>
                <a:latin typeface="Arial"/>
              </a:rPr>
              <a:t>{{CONTACT_NAME}} | {{CONTACT_EMAIL}} | {{CONTACT_PHONE}}</a:t>
            </a:r>
          </a:p>
        </p:txBody>
      </p:sp>
      <p:sp>
        <p:nvSpPr>
          <p:cNvPr id="61" name="FOOTER_NOTE"/>
          <p:cNvSpPr txBox="1"/>
          <p:nvPr/>
        </p:nvSpPr>
        <p:spPr>
          <a:xfrm>
            <a:off x="4160520" y="9976104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rial"/>
              </a:rPr>
              <a:t>{{AUDIT_NOTE}}</a:t>
            </a:r>
          </a:p>
        </p:txBody>
      </p:sp>
      <p:sp>
        <p:nvSpPr>
          <p:cNvPr id="62" name="FOOTER_PAGE"/>
          <p:cNvSpPr txBox="1"/>
          <p:nvPr/>
        </p:nvSpPr>
        <p:spPr>
          <a:xfrm>
            <a:off x="6784848" y="10287000"/>
            <a:ext cx="320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  <a:latin typeface="Arial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DIT_TOP_BAR"/>
          <p:cNvSpPr/>
          <p:nvPr/>
        </p:nvSpPr>
        <p:spPr>
          <a:xfrm>
            <a:off x="0" y="0"/>
            <a:ext cx="7562088" cy="50292"/>
          </a:xfrm>
          <a:prstGeom prst="rect">
            <a:avLst/>
          </a:prstGeom>
          <a:solidFill>
            <a:srgbClr val="0F172A"/>
          </a:solidFill>
          <a:ln w="889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UDIT_TOP_BLUE"/>
          <p:cNvSpPr/>
          <p:nvPr/>
        </p:nvSpPr>
        <p:spPr>
          <a:xfrm>
            <a:off x="0" y="50292"/>
            <a:ext cx="7562088" cy="22860"/>
          </a:xfrm>
          <a:prstGeom prst="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O_MARK"/>
          <p:cNvSpPr/>
          <p:nvPr/>
        </p:nvSpPr>
        <p:spPr>
          <a:xfrm>
            <a:off x="411480" y="347472"/>
            <a:ext cx="328086" cy="328086"/>
          </a:xfrm>
          <a:prstGeom prst="roundRect">
            <a:avLst/>
          </a:prstGeom>
          <a:solidFill>
            <a:srgbClr val="0F172A"/>
          </a:solidFill>
          <a:ln w="889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_M" descr="placeholder:LOGO_M"/>
          <p:cNvSpPr txBox="1"/>
          <p:nvPr/>
        </p:nvSpPr>
        <p:spPr>
          <a:xfrm>
            <a:off x="432876" y="361736"/>
            <a:ext cx="285292" cy="2852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248" b="1" i="0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6" name="LOGO_ACCENT_BLUE"/>
          <p:cNvSpPr/>
          <p:nvPr/>
        </p:nvSpPr>
        <p:spPr>
          <a:xfrm>
            <a:off x="646846" y="383133"/>
            <a:ext cx="57058" cy="256763"/>
          </a:xfrm>
          <a:prstGeom prst="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OGO_ACCENT_PURPLE"/>
          <p:cNvSpPr/>
          <p:nvPr/>
        </p:nvSpPr>
        <p:spPr>
          <a:xfrm>
            <a:off x="689640" y="383133"/>
            <a:ext cx="28529" cy="256763"/>
          </a:xfrm>
          <a:prstGeom prst="rect">
            <a:avLst/>
          </a:prstGeom>
          <a:solidFill>
            <a:srgbClr val="7C3AED"/>
          </a:solidFill>
          <a:ln w="889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OGO_TEXT_MAIN" descr="placeholder:LOGO_TEXT_MAIN"/>
          <p:cNvSpPr txBox="1"/>
          <p:nvPr/>
        </p:nvSpPr>
        <p:spPr>
          <a:xfrm>
            <a:off x="825154" y="404530"/>
            <a:ext cx="1569110" cy="12838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22" b="1" i="0">
                <a:solidFill>
                  <a:srgbClr val="0F172A"/>
                </a:solidFill>
                <a:latin typeface="Aptos"/>
              </a:rPr>
              <a:t>Mecklenburg Marketing</a:t>
            </a:r>
          </a:p>
        </p:txBody>
      </p:sp>
      <p:sp>
        <p:nvSpPr>
          <p:cNvPr id="9" name="LOGO_TEXT_SUB" descr="placeholder:LOGO_TEXT_SUB"/>
          <p:cNvSpPr txBox="1"/>
          <p:nvPr/>
        </p:nvSpPr>
        <p:spPr>
          <a:xfrm>
            <a:off x="825154" y="532912"/>
            <a:ext cx="1141171" cy="927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366" b="0" i="0">
                <a:solidFill>
                  <a:srgbClr val="64748B"/>
                </a:solidFill>
                <a:latin typeface="Aptos"/>
              </a:rPr>
              <a:t>Local Growth OS</a:t>
            </a:r>
          </a:p>
        </p:txBody>
      </p:sp>
      <p:sp>
        <p:nvSpPr>
          <p:cNvPr id="10" name="AUDIT_HEADER_TITLE" descr="placeholder:AUDIT_HEADER_TITLE"/>
          <p:cNvSpPr txBox="1"/>
          <p:nvPr/>
        </p:nvSpPr>
        <p:spPr>
          <a:xfrm>
            <a:off x="2880360" y="384048"/>
            <a:ext cx="19202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720" b="0" i="0">
                <a:solidFill>
                  <a:srgbClr val="64748B"/>
                </a:solidFill>
                <a:latin typeface="Aptos"/>
              </a:rPr>
              <a:t>Google-Sichtbarkeitscheck</a:t>
            </a:r>
          </a:p>
        </p:txBody>
      </p:sp>
      <p:sp>
        <p:nvSpPr>
          <p:cNvPr id="11" name="AUDIT_DATE" descr="placeholder:AUDIT_DATE"/>
          <p:cNvSpPr txBox="1"/>
          <p:nvPr/>
        </p:nvSpPr>
        <p:spPr>
          <a:xfrm>
            <a:off x="5897880" y="384048"/>
            <a:ext cx="12344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620" b="0">
                <a:solidFill>
                  <a:srgbClr val="475569"/>
                </a:solidFill>
                <a:latin typeface="Arial"/>
              </a:rPr>
              <a:t>{{AUDIT_DATE}}</a:t>
            </a:r>
          </a:p>
        </p:txBody>
      </p:sp>
      <p:sp>
        <p:nvSpPr>
          <p:cNvPr id="12" name="CLIENT_NAME" descr="placeholder:CLIENT_NAME"/>
          <p:cNvSpPr txBox="1"/>
          <p:nvPr/>
        </p:nvSpPr>
        <p:spPr>
          <a:xfrm>
            <a:off x="411480" y="932688"/>
            <a:ext cx="52120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2400" b="1">
                <a:solidFill>
                  <a:srgbClr val="0B1220"/>
                </a:solidFill>
                <a:latin typeface="Arial"/>
              </a:rPr>
              <a:t>{{CLIENT_NAME}}</a:t>
            </a:r>
          </a:p>
        </p:txBody>
      </p:sp>
      <p:sp>
        <p:nvSpPr>
          <p:cNvPr id="13" name="CLIENT_META"/>
          <p:cNvSpPr txBox="1"/>
          <p:nvPr/>
        </p:nvSpPr>
        <p:spPr>
          <a:xfrm>
            <a:off x="429768" y="1389888"/>
            <a:ext cx="53035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/>
            <a:r>
              <a:rPr sz="750" b="0">
                <a:solidFill>
                  <a:srgbClr val="475569"/>
                </a:solidFill>
                <a:latin typeface="Arial"/>
              </a:rPr>
              <a:t>Branche: {{BRANCH}}   ·   Standort: {{LOCATION}}</a:t>
            </a:r>
          </a:p>
        </p:txBody>
      </p:sp>
      <p:sp>
        <p:nvSpPr>
          <p:cNvPr id="14" name="OVERALL_CARD"/>
          <p:cNvSpPr/>
          <p:nvPr/>
        </p:nvSpPr>
        <p:spPr>
          <a:xfrm>
            <a:off x="5687568" y="896112"/>
            <a:ext cx="146304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ERALL_LABEL" descr="placeholder:OVERALL_LABEL"/>
          <p:cNvSpPr txBox="1"/>
          <p:nvPr/>
        </p:nvSpPr>
        <p:spPr>
          <a:xfrm>
            <a:off x="5833872" y="1033271"/>
            <a:ext cx="114300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620" b="1" i="0">
                <a:solidFill>
                  <a:srgbClr val="64748B"/>
                </a:solidFill>
                <a:latin typeface="Aptos"/>
              </a:rPr>
              <a:t>Gesamteindruck</a:t>
            </a:r>
          </a:p>
        </p:txBody>
      </p:sp>
      <p:sp>
        <p:nvSpPr>
          <p:cNvPr id="16" name="OVERALL_STATUS_DOT"/>
          <p:cNvSpPr/>
          <p:nvPr/>
        </p:nvSpPr>
        <p:spPr>
          <a:xfrm>
            <a:off x="6291072" y="1234440"/>
            <a:ext cx="164592" cy="164592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ERALL_STATUS" descr="placeholder:OVERALL_STATUS"/>
          <p:cNvSpPr txBox="1"/>
          <p:nvPr/>
        </p:nvSpPr>
        <p:spPr>
          <a:xfrm>
            <a:off x="5788152" y="1481328"/>
            <a:ext cx="1252728" cy="182880"/>
          </a:xfrm>
          <a:prstGeom prst="rect">
            <a:avLst/>
          </a:prstGeom>
          <a:solidFill>
            <a:srgbClr val="FCE7EE"/>
          </a:solidFill>
          <a:ln>
            <a:solidFill>
              <a:srgbClr val="E11D48"/>
            </a:solidFill>
          </a:ln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680" b="1" i="0">
                <a:solidFill>
                  <a:srgbClr val="BE123C"/>
                </a:solidFill>
                <a:latin typeface="Aptos"/>
              </a:rPr>
              <a:t>kritisch</a:t>
            </a:r>
          </a:p>
        </p:txBody>
      </p:sp>
      <p:sp>
        <p:nvSpPr>
          <p:cNvPr id="18" name="SUMMARY_CARD"/>
          <p:cNvSpPr/>
          <p:nvPr/>
        </p:nvSpPr>
        <p:spPr>
          <a:xfrm>
            <a:off x="411480" y="1773936"/>
            <a:ext cx="6739128" cy="384048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ERALL_SUMMARY" descr="placeholder:OVERALL_SUMMARY"/>
          <p:cNvSpPr txBox="1"/>
          <p:nvPr/>
        </p:nvSpPr>
        <p:spPr>
          <a:xfrm>
            <a:off x="594360" y="1865376"/>
            <a:ext cx="6355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Arial"/>
              </a:rPr>
              <a:t>{{OVERALL_SUMMARY}}</a:t>
            </a:r>
          </a:p>
        </p:txBody>
      </p:sp>
      <p:sp>
        <p:nvSpPr>
          <p:cNvPr id="20" name="SECTION_KURZCHECK" descr="placeholder:SECTION_KURZCHECK"/>
          <p:cNvSpPr txBox="1"/>
          <p:nvPr/>
        </p:nvSpPr>
        <p:spPr>
          <a:xfrm>
            <a:off x="411480" y="2359152"/>
            <a:ext cx="67391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Aptos"/>
              </a:rPr>
              <a:t>1. Kurz-Check</a:t>
            </a:r>
          </a:p>
        </p:txBody>
      </p:sp>
      <p:sp>
        <p:nvSpPr>
          <p:cNvPr id="21" name="SECTION_KURZCHECK_UNDERLINE"/>
          <p:cNvSpPr/>
          <p:nvPr/>
        </p:nvSpPr>
        <p:spPr>
          <a:xfrm>
            <a:off x="411480" y="2651760"/>
            <a:ext cx="6739128" cy="9144"/>
          </a:xfrm>
          <a:prstGeom prst="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C_HEADER_BG"/>
          <p:cNvSpPr/>
          <p:nvPr/>
        </p:nvSpPr>
        <p:spPr>
          <a:xfrm>
            <a:off x="411480" y="2697480"/>
            <a:ext cx="6739128" cy="251460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C_HEADER_AREA" descr="placeholder:KC_HEADER_AREA"/>
          <p:cNvSpPr txBox="1"/>
          <p:nvPr/>
        </p:nvSpPr>
        <p:spPr>
          <a:xfrm>
            <a:off x="521208" y="2752344"/>
            <a:ext cx="1691639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80" b="1" i="0">
                <a:solidFill>
                  <a:srgbClr val="334155"/>
                </a:solidFill>
                <a:latin typeface="Aptos"/>
              </a:rPr>
              <a:t>Bereich</a:t>
            </a:r>
          </a:p>
        </p:txBody>
      </p:sp>
      <p:sp>
        <p:nvSpPr>
          <p:cNvPr id="24" name="KC_HEADER_RATING" descr="placeholder:KC_HEADER_RATING"/>
          <p:cNvSpPr txBox="1"/>
          <p:nvPr/>
        </p:nvSpPr>
        <p:spPr>
          <a:xfrm>
            <a:off x="2359152" y="2752344"/>
            <a:ext cx="1362456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580" b="1" i="0">
                <a:solidFill>
                  <a:srgbClr val="334155"/>
                </a:solidFill>
                <a:latin typeface="Aptos"/>
              </a:rPr>
              <a:t>Bewertung</a:t>
            </a:r>
          </a:p>
        </p:txBody>
      </p:sp>
      <p:sp>
        <p:nvSpPr>
          <p:cNvPr id="25" name="KC_HEADER_NOTE" descr="placeholder:KC_HEADER_NOTE"/>
          <p:cNvSpPr txBox="1"/>
          <p:nvPr/>
        </p:nvSpPr>
        <p:spPr>
          <a:xfrm>
            <a:off x="3904488" y="2752344"/>
            <a:ext cx="3172968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80" b="1" i="0">
                <a:solidFill>
                  <a:srgbClr val="334155"/>
                </a:solidFill>
                <a:latin typeface="Aptos"/>
              </a:rPr>
              <a:t>Einschätzung</a:t>
            </a:r>
          </a:p>
        </p:txBody>
      </p:sp>
      <p:sp>
        <p:nvSpPr>
          <p:cNvPr id="26" name="KC_VLINE"/>
          <p:cNvSpPr/>
          <p:nvPr/>
        </p:nvSpPr>
        <p:spPr>
          <a:xfrm>
            <a:off x="2286000" y="2697480"/>
            <a:ext cx="5486" cy="2011680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C_VLINE"/>
          <p:cNvSpPr/>
          <p:nvPr/>
        </p:nvSpPr>
        <p:spPr>
          <a:xfrm>
            <a:off x="3794760" y="2697480"/>
            <a:ext cx="5486" cy="2011680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C_ROW_1_BG"/>
          <p:cNvSpPr/>
          <p:nvPr/>
        </p:nvSpPr>
        <p:spPr>
          <a:xfrm>
            <a:off x="411480" y="2948940"/>
            <a:ext cx="6739128" cy="25146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KC1_AREA" descr="placeholder:KC1_AREA"/>
          <p:cNvSpPr txBox="1"/>
          <p:nvPr/>
        </p:nvSpPr>
        <p:spPr>
          <a:xfrm>
            <a:off x="521208" y="3008376"/>
            <a:ext cx="1709928" cy="100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60" b="0" i="0">
                <a:solidFill>
                  <a:srgbClr val="0F172A"/>
                </a:solidFill>
                <a:latin typeface="Aptos"/>
              </a:rPr>
              <a:t>1. Google-Bewertungen</a:t>
            </a:r>
          </a:p>
        </p:txBody>
      </p:sp>
      <p:sp>
        <p:nvSpPr>
          <p:cNvPr id="30" name="KC1_STATUS_DOT"/>
          <p:cNvSpPr/>
          <p:nvPr/>
        </p:nvSpPr>
        <p:spPr>
          <a:xfrm>
            <a:off x="2450592" y="3026664"/>
            <a:ext cx="68580" cy="68580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KC1_STATUS_BADGE"/>
          <p:cNvSpPr/>
          <p:nvPr/>
        </p:nvSpPr>
        <p:spPr>
          <a:xfrm>
            <a:off x="2706624" y="2999232"/>
            <a:ext cx="786384" cy="146304"/>
          </a:xfrm>
          <a:prstGeom prst="roundRect">
            <a:avLst/>
          </a:prstGeom>
          <a:solidFill>
            <a:srgbClr val="FCE7EE"/>
          </a:solidFill>
          <a:ln w="762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BE123C"/>
                </a:solidFill>
                <a:latin typeface="Aptos"/>
              </a:rPr>
              <a:t>kritisch</a:t>
            </a:r>
          </a:p>
        </p:txBody>
      </p:sp>
      <p:sp>
        <p:nvSpPr>
          <p:cNvPr id="32" name="KC1_NOTE" descr="placeholder:KC1_NOTE"/>
          <p:cNvSpPr txBox="1"/>
          <p:nvPr/>
        </p:nvSpPr>
        <p:spPr>
          <a:xfrm>
            <a:off x="3904488" y="3003804"/>
            <a:ext cx="3127248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35" b="0" i="0">
                <a:solidFill>
                  <a:srgbClr val="334155"/>
                </a:solidFill>
                <a:latin typeface="Aptos"/>
              </a:rPr>
              <a:t>Bewertungsdurchschnitt wirkt ausbaufähig</a:t>
            </a:r>
          </a:p>
        </p:txBody>
      </p:sp>
      <p:sp>
        <p:nvSpPr>
          <p:cNvPr id="33" name="KC_ROW_2_BG"/>
          <p:cNvSpPr/>
          <p:nvPr/>
        </p:nvSpPr>
        <p:spPr>
          <a:xfrm>
            <a:off x="411480" y="3200400"/>
            <a:ext cx="6739128" cy="251460"/>
          </a:xfrm>
          <a:prstGeom prst="rect">
            <a:avLst/>
          </a:prstGeom>
          <a:solidFill>
            <a:srgbClr val="FBFD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KC2_AREA" descr="placeholder:KC2_AREA"/>
          <p:cNvSpPr txBox="1"/>
          <p:nvPr/>
        </p:nvSpPr>
        <p:spPr>
          <a:xfrm>
            <a:off x="521208" y="3259836"/>
            <a:ext cx="1709928" cy="100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60" b="0" i="0">
                <a:solidFill>
                  <a:srgbClr val="0F172A"/>
                </a:solidFill>
                <a:latin typeface="Aptos"/>
              </a:rPr>
              <a:t>2. Bewertungsanzahl</a:t>
            </a:r>
          </a:p>
        </p:txBody>
      </p:sp>
      <p:sp>
        <p:nvSpPr>
          <p:cNvPr id="35" name="KC2_STATUS_DOT"/>
          <p:cNvSpPr/>
          <p:nvPr/>
        </p:nvSpPr>
        <p:spPr>
          <a:xfrm>
            <a:off x="2450592" y="3278124"/>
            <a:ext cx="68580" cy="685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KC2_STATUS_BADGE"/>
          <p:cNvSpPr/>
          <p:nvPr/>
        </p:nvSpPr>
        <p:spPr>
          <a:xfrm>
            <a:off x="2706624" y="3250692"/>
            <a:ext cx="786384" cy="146304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92400E"/>
                </a:solidFill>
                <a:latin typeface="Aptos"/>
              </a:rPr>
              <a:t>bedingt</a:t>
            </a:r>
          </a:p>
        </p:txBody>
      </p:sp>
      <p:sp>
        <p:nvSpPr>
          <p:cNvPr id="37" name="KC2_NOTE" descr="placeholder:KC2_NOTE"/>
          <p:cNvSpPr txBox="1"/>
          <p:nvPr/>
        </p:nvSpPr>
        <p:spPr>
          <a:xfrm>
            <a:off x="3904488" y="3255264"/>
            <a:ext cx="3127248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35" b="0" i="0">
                <a:solidFill>
                  <a:srgbClr val="334155"/>
                </a:solidFill>
                <a:latin typeface="Aptos"/>
              </a:rPr>
              <a:t>Grundlage vorhanden, aber noch steigerbar</a:t>
            </a:r>
          </a:p>
        </p:txBody>
      </p:sp>
      <p:sp>
        <p:nvSpPr>
          <p:cNvPr id="38" name="KC_ROW_3_BG"/>
          <p:cNvSpPr/>
          <p:nvPr/>
        </p:nvSpPr>
        <p:spPr>
          <a:xfrm>
            <a:off x="411480" y="3451860"/>
            <a:ext cx="6739128" cy="25146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KC3_AREA" descr="placeholder:KC3_AREA"/>
          <p:cNvSpPr txBox="1"/>
          <p:nvPr/>
        </p:nvSpPr>
        <p:spPr>
          <a:xfrm>
            <a:off x="521208" y="3511296"/>
            <a:ext cx="1709928" cy="100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60" b="0" i="0">
                <a:solidFill>
                  <a:srgbClr val="0F172A"/>
                </a:solidFill>
                <a:latin typeface="Aptos"/>
              </a:rPr>
              <a:t>3. Bewertungsantworten</a:t>
            </a:r>
          </a:p>
        </p:txBody>
      </p:sp>
      <p:sp>
        <p:nvSpPr>
          <p:cNvPr id="40" name="KC3_STATUS_DOT"/>
          <p:cNvSpPr/>
          <p:nvPr/>
        </p:nvSpPr>
        <p:spPr>
          <a:xfrm>
            <a:off x="2450592" y="3529584"/>
            <a:ext cx="68580" cy="68580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C3_STATUS_BADGE"/>
          <p:cNvSpPr/>
          <p:nvPr/>
        </p:nvSpPr>
        <p:spPr>
          <a:xfrm>
            <a:off x="2706624" y="3502152"/>
            <a:ext cx="786384" cy="146304"/>
          </a:xfrm>
          <a:prstGeom prst="roundRect">
            <a:avLst/>
          </a:prstGeom>
          <a:solidFill>
            <a:srgbClr val="FCE7EE"/>
          </a:solidFill>
          <a:ln w="762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BE123C"/>
                </a:solidFill>
                <a:latin typeface="Aptos"/>
              </a:rPr>
              <a:t>kritisch</a:t>
            </a:r>
          </a:p>
        </p:txBody>
      </p:sp>
      <p:sp>
        <p:nvSpPr>
          <p:cNvPr id="42" name="KC3_NOTE" descr="placeholder:KC3_NOTE"/>
          <p:cNvSpPr txBox="1"/>
          <p:nvPr/>
        </p:nvSpPr>
        <p:spPr>
          <a:xfrm>
            <a:off x="3904488" y="3506724"/>
            <a:ext cx="3127248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35" b="0" i="0">
                <a:solidFill>
                  <a:srgbClr val="334155"/>
                </a:solidFill>
                <a:latin typeface="Aptos"/>
              </a:rPr>
              <a:t>sollte konsequent geprüft und gepflegt werden</a:t>
            </a:r>
          </a:p>
        </p:txBody>
      </p:sp>
      <p:sp>
        <p:nvSpPr>
          <p:cNvPr id="43" name="KC_ROW_4_BG"/>
          <p:cNvSpPr/>
          <p:nvPr/>
        </p:nvSpPr>
        <p:spPr>
          <a:xfrm>
            <a:off x="411480" y="3703320"/>
            <a:ext cx="6739128" cy="251460"/>
          </a:xfrm>
          <a:prstGeom prst="rect">
            <a:avLst/>
          </a:prstGeom>
          <a:solidFill>
            <a:srgbClr val="FBFD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C4_AREA" descr="placeholder:KC4_AREA"/>
          <p:cNvSpPr txBox="1"/>
          <p:nvPr/>
        </p:nvSpPr>
        <p:spPr>
          <a:xfrm>
            <a:off x="521208" y="3762756"/>
            <a:ext cx="1709928" cy="100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60" b="0" i="0">
                <a:solidFill>
                  <a:srgbClr val="0F172A"/>
                </a:solidFill>
                <a:latin typeface="Aptos"/>
              </a:rPr>
              <a:t>4. Fotos &amp; Designs</a:t>
            </a:r>
          </a:p>
        </p:txBody>
      </p:sp>
      <p:sp>
        <p:nvSpPr>
          <p:cNvPr id="45" name="KC4_STATUS_DOT"/>
          <p:cNvSpPr/>
          <p:nvPr/>
        </p:nvSpPr>
        <p:spPr>
          <a:xfrm>
            <a:off x="2450592" y="3781044"/>
            <a:ext cx="68580" cy="685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C4_STATUS_BADGE"/>
          <p:cNvSpPr/>
          <p:nvPr/>
        </p:nvSpPr>
        <p:spPr>
          <a:xfrm>
            <a:off x="2706624" y="3753612"/>
            <a:ext cx="786384" cy="146304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92400E"/>
                </a:solidFill>
                <a:latin typeface="Aptos"/>
              </a:rPr>
              <a:t>bedingt</a:t>
            </a:r>
          </a:p>
        </p:txBody>
      </p:sp>
      <p:sp>
        <p:nvSpPr>
          <p:cNvPr id="47" name="KC4_NOTE" descr="placeholder:KC4_NOTE"/>
          <p:cNvSpPr txBox="1"/>
          <p:nvPr/>
        </p:nvSpPr>
        <p:spPr>
          <a:xfrm>
            <a:off x="3904488" y="3758184"/>
            <a:ext cx="3127248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35" b="0" i="0">
                <a:solidFill>
                  <a:srgbClr val="334155"/>
                </a:solidFill>
                <a:latin typeface="Aptos"/>
              </a:rPr>
              <a:t>sehr wichtig für Nägel, Styles und Vertrauen</a:t>
            </a:r>
          </a:p>
        </p:txBody>
      </p:sp>
      <p:sp>
        <p:nvSpPr>
          <p:cNvPr id="48" name="KC_ROW_5_BG"/>
          <p:cNvSpPr/>
          <p:nvPr/>
        </p:nvSpPr>
        <p:spPr>
          <a:xfrm>
            <a:off x="411480" y="3954780"/>
            <a:ext cx="6739128" cy="25146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C5_AREA" descr="placeholder:KC5_AREA"/>
          <p:cNvSpPr txBox="1"/>
          <p:nvPr/>
        </p:nvSpPr>
        <p:spPr>
          <a:xfrm>
            <a:off x="521208" y="4014216"/>
            <a:ext cx="1709928" cy="100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60" b="0" i="0">
                <a:solidFill>
                  <a:srgbClr val="0F172A"/>
                </a:solidFill>
                <a:latin typeface="Aptos"/>
              </a:rPr>
              <a:t>5. Leistungen/Preise</a:t>
            </a:r>
          </a:p>
        </p:txBody>
      </p:sp>
      <p:sp>
        <p:nvSpPr>
          <p:cNvPr id="50" name="KC5_STATUS_DOT"/>
          <p:cNvSpPr/>
          <p:nvPr/>
        </p:nvSpPr>
        <p:spPr>
          <a:xfrm>
            <a:off x="2450592" y="4032504"/>
            <a:ext cx="68580" cy="685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C5_STATUS_BADGE"/>
          <p:cNvSpPr/>
          <p:nvPr/>
        </p:nvSpPr>
        <p:spPr>
          <a:xfrm>
            <a:off x="2706624" y="4005072"/>
            <a:ext cx="786384" cy="146304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92400E"/>
                </a:solidFill>
                <a:latin typeface="Aptos"/>
              </a:rPr>
              <a:t>bedingt</a:t>
            </a:r>
          </a:p>
        </p:txBody>
      </p:sp>
      <p:sp>
        <p:nvSpPr>
          <p:cNvPr id="52" name="KC5_NOTE" descr="placeholder:KC5_NOTE"/>
          <p:cNvSpPr txBox="1"/>
          <p:nvPr/>
        </p:nvSpPr>
        <p:spPr>
          <a:xfrm>
            <a:off x="3904488" y="4009644"/>
            <a:ext cx="3127248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35" b="0" i="0">
                <a:solidFill>
                  <a:srgbClr val="334155"/>
                </a:solidFill>
                <a:latin typeface="Aptos"/>
              </a:rPr>
              <a:t>sollten klar sichtbar und verständlich sein</a:t>
            </a:r>
          </a:p>
        </p:txBody>
      </p:sp>
      <p:sp>
        <p:nvSpPr>
          <p:cNvPr id="53" name="KC_ROW_6_BG"/>
          <p:cNvSpPr/>
          <p:nvPr/>
        </p:nvSpPr>
        <p:spPr>
          <a:xfrm>
            <a:off x="411480" y="4206240"/>
            <a:ext cx="6739128" cy="251460"/>
          </a:xfrm>
          <a:prstGeom prst="rect">
            <a:avLst/>
          </a:prstGeom>
          <a:solidFill>
            <a:srgbClr val="FBFD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C6_AREA" descr="placeholder:KC6_AREA"/>
          <p:cNvSpPr txBox="1"/>
          <p:nvPr/>
        </p:nvSpPr>
        <p:spPr>
          <a:xfrm>
            <a:off x="521208" y="4265676"/>
            <a:ext cx="1709928" cy="100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60" b="0" i="0">
                <a:solidFill>
                  <a:srgbClr val="0F172A"/>
                </a:solidFill>
                <a:latin typeface="Aptos"/>
              </a:rPr>
              <a:t>6. Öffnungszeiten</a:t>
            </a:r>
          </a:p>
        </p:txBody>
      </p:sp>
      <p:sp>
        <p:nvSpPr>
          <p:cNvPr id="55" name="KC6_STATUS_DOT"/>
          <p:cNvSpPr/>
          <p:nvPr/>
        </p:nvSpPr>
        <p:spPr>
          <a:xfrm>
            <a:off x="2450592" y="4283964"/>
            <a:ext cx="68580" cy="685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KC6_STATUS_BADGE"/>
          <p:cNvSpPr/>
          <p:nvPr/>
        </p:nvSpPr>
        <p:spPr>
          <a:xfrm>
            <a:off x="2706624" y="4256532"/>
            <a:ext cx="786384" cy="146304"/>
          </a:xfrm>
          <a:prstGeom prst="roundRect">
            <a:avLst/>
          </a:prstGeom>
          <a:solidFill>
            <a:srgbClr val="D1FAE5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065F46"/>
                </a:solidFill>
                <a:latin typeface="Aptos"/>
              </a:rPr>
              <a:t>stark</a:t>
            </a:r>
          </a:p>
        </p:txBody>
      </p:sp>
      <p:sp>
        <p:nvSpPr>
          <p:cNvPr id="57" name="KC6_NOTE" descr="placeholder:KC6_NOTE"/>
          <p:cNvSpPr txBox="1"/>
          <p:nvPr/>
        </p:nvSpPr>
        <p:spPr>
          <a:xfrm>
            <a:off x="3904488" y="4261104"/>
            <a:ext cx="3127248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35" b="0" i="0">
                <a:solidFill>
                  <a:srgbClr val="334155"/>
                </a:solidFill>
                <a:latin typeface="Aptos"/>
              </a:rPr>
              <a:t>lange Öffnungszeiten wirken grundsätzlich stark</a:t>
            </a:r>
          </a:p>
        </p:txBody>
      </p:sp>
      <p:sp>
        <p:nvSpPr>
          <p:cNvPr id="58" name="KC_ROW_7_BG"/>
          <p:cNvSpPr/>
          <p:nvPr/>
        </p:nvSpPr>
        <p:spPr>
          <a:xfrm>
            <a:off x="411480" y="4457700"/>
            <a:ext cx="6739128" cy="251460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KC7_AREA" descr="placeholder:KC7_AREA"/>
          <p:cNvSpPr txBox="1"/>
          <p:nvPr/>
        </p:nvSpPr>
        <p:spPr>
          <a:xfrm>
            <a:off x="521208" y="4517136"/>
            <a:ext cx="1709928" cy="100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60" b="0" i="0">
                <a:solidFill>
                  <a:srgbClr val="0F172A"/>
                </a:solidFill>
                <a:latin typeface="Aptos"/>
              </a:rPr>
              <a:t>7. QR-Bewertungssystem</a:t>
            </a:r>
          </a:p>
        </p:txBody>
      </p:sp>
      <p:sp>
        <p:nvSpPr>
          <p:cNvPr id="60" name="KC7_STATUS_DOT"/>
          <p:cNvSpPr/>
          <p:nvPr/>
        </p:nvSpPr>
        <p:spPr>
          <a:xfrm>
            <a:off x="2450592" y="4535424"/>
            <a:ext cx="68580" cy="68580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KC7_STATUS_BADGE"/>
          <p:cNvSpPr/>
          <p:nvPr/>
        </p:nvSpPr>
        <p:spPr>
          <a:xfrm>
            <a:off x="2706624" y="4507992"/>
            <a:ext cx="786384" cy="146304"/>
          </a:xfrm>
          <a:prstGeom prst="roundRect">
            <a:avLst/>
          </a:prstGeom>
          <a:solidFill>
            <a:srgbClr val="FCE7EE"/>
          </a:solidFill>
          <a:ln w="762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BE123C"/>
                </a:solidFill>
                <a:latin typeface="Aptos"/>
              </a:rPr>
              <a:t>kritisch</a:t>
            </a:r>
          </a:p>
        </p:txBody>
      </p:sp>
      <p:sp>
        <p:nvSpPr>
          <p:cNvPr id="62" name="KC7_NOTE" descr="placeholder:KC7_NOTE"/>
          <p:cNvSpPr txBox="1"/>
          <p:nvPr/>
        </p:nvSpPr>
        <p:spPr>
          <a:xfrm>
            <a:off x="3904488" y="4512564"/>
            <a:ext cx="3127248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35" b="0" i="0">
                <a:solidFill>
                  <a:srgbClr val="334155"/>
                </a:solidFill>
                <a:latin typeface="Aptos"/>
              </a:rPr>
              <a:t>großes Potenzial nach jedem Termin</a:t>
            </a:r>
          </a:p>
        </p:txBody>
      </p:sp>
      <p:sp>
        <p:nvSpPr>
          <p:cNvPr id="63" name="SECTION_CHANCES" descr="placeholder:SECTION_CHANCES"/>
          <p:cNvSpPr txBox="1"/>
          <p:nvPr/>
        </p:nvSpPr>
        <p:spPr>
          <a:xfrm>
            <a:off x="411480" y="4892040"/>
            <a:ext cx="67391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Aptos"/>
              </a:rPr>
              <a:t>2. Die 3 größten Chancen</a:t>
            </a:r>
          </a:p>
        </p:txBody>
      </p:sp>
      <p:sp>
        <p:nvSpPr>
          <p:cNvPr id="64" name="SECTION_CHANCES_UNDERLINE"/>
          <p:cNvSpPr/>
          <p:nvPr/>
        </p:nvSpPr>
        <p:spPr>
          <a:xfrm>
            <a:off x="411480" y="5184648"/>
            <a:ext cx="6739128" cy="9144"/>
          </a:xfrm>
          <a:prstGeom prst="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HANCE1_CARD"/>
          <p:cNvSpPr/>
          <p:nvPr/>
        </p:nvSpPr>
        <p:spPr>
          <a:xfrm>
            <a:off x="411480" y="5285232"/>
            <a:ext cx="212140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HANCE1_NUMBER_CIRCLE"/>
          <p:cNvSpPr/>
          <p:nvPr/>
        </p:nvSpPr>
        <p:spPr>
          <a:xfrm>
            <a:off x="576072" y="5449824"/>
            <a:ext cx="274320" cy="2743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HANCE1_NUMBER" descr="placeholder:CHANCE1_NUMBER"/>
          <p:cNvSpPr txBox="1"/>
          <p:nvPr/>
        </p:nvSpPr>
        <p:spPr>
          <a:xfrm>
            <a:off x="576072" y="5490972"/>
            <a:ext cx="27432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8" name="CHANCE1_TITLE" descr="placeholder:CHANCE1_TITLE"/>
          <p:cNvSpPr txBox="1"/>
          <p:nvPr/>
        </p:nvSpPr>
        <p:spPr>
          <a:xfrm>
            <a:off x="960120" y="5413248"/>
            <a:ext cx="1389887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720" b="1" i="0">
                <a:solidFill>
                  <a:srgbClr val="0F172A"/>
                </a:solidFill>
                <a:latin typeface="Aptos"/>
              </a:rPr>
              <a:t>Bewertungen systematisch verbessern</a:t>
            </a:r>
          </a:p>
        </p:txBody>
      </p:sp>
      <p:sp>
        <p:nvSpPr>
          <p:cNvPr id="69" name="CHANCE1_TEXT" descr="placeholder:CHANCE1_TEXT"/>
          <p:cNvSpPr txBox="1"/>
          <p:nvPr/>
        </p:nvSpPr>
        <p:spPr>
          <a:xfrm>
            <a:off x="594360" y="5833872"/>
            <a:ext cx="175564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60" b="0" i="0">
                <a:solidFill>
                  <a:srgbClr val="334155"/>
                </a:solidFill>
                <a:latin typeface="Aptos"/>
              </a:rPr>
              <a:t>Ein aktives Bewertungssystem kann helfen, zufriedene Kundinnen direkt nach dem Termin zu einer ehrlichen Google-Bewertung zu führen.</a:t>
            </a:r>
          </a:p>
        </p:txBody>
      </p:sp>
      <p:sp>
        <p:nvSpPr>
          <p:cNvPr id="70" name="CHANCE1_LINE"/>
          <p:cNvSpPr/>
          <p:nvPr/>
        </p:nvSpPr>
        <p:spPr>
          <a:xfrm>
            <a:off x="594360" y="6236208"/>
            <a:ext cx="1755648" cy="5486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HANCE1_RECOMMENDATION"/>
          <p:cNvSpPr txBox="1"/>
          <p:nvPr/>
        </p:nvSpPr>
        <p:spPr>
          <a:xfrm>
            <a:off x="594360" y="6318504"/>
            <a:ext cx="1755648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/>
            <a:r>
              <a:rPr sz="550" b="1">
                <a:solidFill>
                  <a:srgbClr val="2563EB"/>
                </a:solidFill>
                <a:latin typeface="Aptos"/>
              </a:rPr>
              <a:t>Empfehlung: </a:t>
            </a:r>
            <a:r>
              <a:rPr sz="550" b="0">
                <a:solidFill>
                  <a:srgbClr val="334155"/>
                </a:solidFill>
                <a:latin typeface="Aptos"/>
              </a:rPr>
              <a:t>QR-Bewertungskarte am Tresen, auf Terminkarten oder als kleiner Aufsteller im Studio.</a:t>
            </a:r>
          </a:p>
        </p:txBody>
      </p:sp>
      <p:sp>
        <p:nvSpPr>
          <p:cNvPr id="72" name="CHANCE2_CARD"/>
          <p:cNvSpPr/>
          <p:nvPr/>
        </p:nvSpPr>
        <p:spPr>
          <a:xfrm>
            <a:off x="2715768" y="5285232"/>
            <a:ext cx="212140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HANCE2_NUMBER_CIRCLE"/>
          <p:cNvSpPr/>
          <p:nvPr/>
        </p:nvSpPr>
        <p:spPr>
          <a:xfrm>
            <a:off x="2880360" y="5449824"/>
            <a:ext cx="274320" cy="27432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HANCE2_NUMBER" descr="placeholder:CHANCE2_NUMBER"/>
          <p:cNvSpPr txBox="1"/>
          <p:nvPr/>
        </p:nvSpPr>
        <p:spPr>
          <a:xfrm>
            <a:off x="2880360" y="5490972"/>
            <a:ext cx="27432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5" name="CHANCE2_TITLE" descr="placeholder:CHANCE2_TITLE"/>
          <p:cNvSpPr txBox="1"/>
          <p:nvPr/>
        </p:nvSpPr>
        <p:spPr>
          <a:xfrm>
            <a:off x="3264408" y="5413248"/>
            <a:ext cx="1389887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720" b="1" i="0">
                <a:solidFill>
                  <a:srgbClr val="0F172A"/>
                </a:solidFill>
                <a:latin typeface="Aptos"/>
              </a:rPr>
              <a:t>Kritische Bewertungen professionell beantworten</a:t>
            </a:r>
          </a:p>
        </p:txBody>
      </p:sp>
      <p:sp>
        <p:nvSpPr>
          <p:cNvPr id="76" name="CHANCE2_TEXT" descr="placeholder:CHANCE2_TEXT"/>
          <p:cNvSpPr txBox="1"/>
          <p:nvPr/>
        </p:nvSpPr>
        <p:spPr>
          <a:xfrm>
            <a:off x="2898648" y="5833872"/>
            <a:ext cx="175564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60" b="0" i="0">
                <a:solidFill>
                  <a:srgbClr val="334155"/>
                </a:solidFill>
                <a:latin typeface="Aptos"/>
              </a:rPr>
              <a:t>Wenn ein Profil kritische Bewertungen enthält, sollten diese sachlich, freundlich und lösungsorientiert beantwortet werden.</a:t>
            </a:r>
          </a:p>
        </p:txBody>
      </p:sp>
      <p:sp>
        <p:nvSpPr>
          <p:cNvPr id="77" name="CHANCE2_LINE"/>
          <p:cNvSpPr/>
          <p:nvPr/>
        </p:nvSpPr>
        <p:spPr>
          <a:xfrm>
            <a:off x="2898648" y="6236208"/>
            <a:ext cx="1755648" cy="5486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HANCE2_RECOMMENDATION"/>
          <p:cNvSpPr txBox="1"/>
          <p:nvPr/>
        </p:nvSpPr>
        <p:spPr>
          <a:xfrm>
            <a:off x="2898648" y="6318504"/>
            <a:ext cx="1755648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/>
            <a:r>
              <a:rPr sz="550" b="1">
                <a:solidFill>
                  <a:srgbClr val="7C3AED"/>
                </a:solidFill>
                <a:latin typeface="Aptos"/>
              </a:rPr>
              <a:t>Empfehlung: </a:t>
            </a:r>
            <a:r>
              <a:rPr sz="550" b="0">
                <a:solidFill>
                  <a:srgbClr val="334155"/>
                </a:solidFill>
                <a:latin typeface="Aptos"/>
              </a:rPr>
              <a:t>Vorhandene Bewertungen prüfen, gute Bewertungen bedanken, kritische Bewertungen deeskalierend beantworten.</a:t>
            </a:r>
          </a:p>
        </p:txBody>
      </p:sp>
      <p:sp>
        <p:nvSpPr>
          <p:cNvPr id="79" name="CHANCE3_CARD"/>
          <p:cNvSpPr/>
          <p:nvPr/>
        </p:nvSpPr>
        <p:spPr>
          <a:xfrm>
            <a:off x="5020056" y="5285232"/>
            <a:ext cx="2121408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HANCE3_NUMBER_CIRCLE"/>
          <p:cNvSpPr/>
          <p:nvPr/>
        </p:nvSpPr>
        <p:spPr>
          <a:xfrm>
            <a:off x="5184648" y="5449824"/>
            <a:ext cx="274320" cy="27432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HANCE3_NUMBER" descr="placeholder:CHANCE3_NUMBER"/>
          <p:cNvSpPr txBox="1"/>
          <p:nvPr/>
        </p:nvSpPr>
        <p:spPr>
          <a:xfrm>
            <a:off x="5184648" y="5490972"/>
            <a:ext cx="274320" cy="1280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82" name="CHANCE3_TITLE" descr="placeholder:CHANCE3_TITLE"/>
          <p:cNvSpPr txBox="1"/>
          <p:nvPr/>
        </p:nvSpPr>
        <p:spPr>
          <a:xfrm>
            <a:off x="5568696" y="5413248"/>
            <a:ext cx="1389887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720" b="1" i="0">
                <a:solidFill>
                  <a:srgbClr val="0F172A"/>
                </a:solidFill>
                <a:latin typeface="Aptos"/>
              </a:rPr>
              <a:t>Mehr verkaufsstarke Bilder nutzen</a:t>
            </a:r>
          </a:p>
        </p:txBody>
      </p:sp>
      <p:sp>
        <p:nvSpPr>
          <p:cNvPr id="83" name="CHANCE3_TEXT" descr="placeholder:CHANCE3_TEXT"/>
          <p:cNvSpPr txBox="1"/>
          <p:nvPr/>
        </p:nvSpPr>
        <p:spPr>
          <a:xfrm>
            <a:off x="5202936" y="5833872"/>
            <a:ext cx="175564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60" b="0" i="0">
                <a:solidFill>
                  <a:srgbClr val="334155"/>
                </a:solidFill>
                <a:latin typeface="Aptos"/>
              </a:rPr>
              <a:t>Nagelstudios verkaufen stark über Optik. Aktuelle Bilder von Designs, Farben, Studio und Ergebnissen stärken das Profil.</a:t>
            </a:r>
          </a:p>
        </p:txBody>
      </p:sp>
      <p:sp>
        <p:nvSpPr>
          <p:cNvPr id="84" name="CHANCE3_LINE"/>
          <p:cNvSpPr/>
          <p:nvPr/>
        </p:nvSpPr>
        <p:spPr>
          <a:xfrm>
            <a:off x="5202936" y="6236208"/>
            <a:ext cx="1755648" cy="5486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HANCE3_RECOMMENDATION"/>
          <p:cNvSpPr txBox="1"/>
          <p:nvPr/>
        </p:nvSpPr>
        <p:spPr>
          <a:xfrm>
            <a:off x="5202936" y="6318504"/>
            <a:ext cx="1755648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Autofit/>
          </a:bodyPr>
          <a:lstStyle/>
          <a:p>
            <a:pPr algn="l"/>
            <a:r>
              <a:rPr sz="550" b="1">
                <a:solidFill>
                  <a:srgbClr val="10B981"/>
                </a:solidFill>
                <a:latin typeface="Aptos"/>
              </a:rPr>
              <a:t>Empfehlung: </a:t>
            </a:r>
            <a:r>
              <a:rPr sz="550" b="0">
                <a:solidFill>
                  <a:srgbClr val="334155"/>
                </a:solidFill>
                <a:latin typeface="Aptos"/>
              </a:rPr>
              <a:t>Wöchentlich 3-5 neue Bilder von echten Arbeiten hochladen.</a:t>
            </a:r>
          </a:p>
        </p:txBody>
      </p:sp>
      <p:sp>
        <p:nvSpPr>
          <p:cNvPr id="86" name="SECTION_MEASURES" descr="placeholder:SECTION_MEASURES"/>
          <p:cNvSpPr txBox="1"/>
          <p:nvPr/>
        </p:nvSpPr>
        <p:spPr>
          <a:xfrm>
            <a:off x="411480" y="6995160"/>
            <a:ext cx="44165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Aptos"/>
              </a:rPr>
              <a:t>3. Sofortmaßnahmen</a:t>
            </a:r>
          </a:p>
        </p:txBody>
      </p:sp>
      <p:sp>
        <p:nvSpPr>
          <p:cNvPr id="87" name="SECTION_MEASURES_UNDERLINE"/>
          <p:cNvSpPr/>
          <p:nvPr/>
        </p:nvSpPr>
        <p:spPr>
          <a:xfrm>
            <a:off x="411480" y="7287768"/>
            <a:ext cx="4416552" cy="9144"/>
          </a:xfrm>
          <a:prstGeom prst="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SECTION_POTENTIAL" descr="placeholder:SECTION_POTENTIAL"/>
          <p:cNvSpPr txBox="1"/>
          <p:nvPr/>
        </p:nvSpPr>
        <p:spPr>
          <a:xfrm>
            <a:off x="5029200" y="6995160"/>
            <a:ext cx="212140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Aptos"/>
              </a:rPr>
              <a:t>4. Potenzial</a:t>
            </a:r>
          </a:p>
        </p:txBody>
      </p:sp>
      <p:sp>
        <p:nvSpPr>
          <p:cNvPr id="89" name="SECTION_POTENTIAL_UNDERLINE"/>
          <p:cNvSpPr/>
          <p:nvPr/>
        </p:nvSpPr>
        <p:spPr>
          <a:xfrm>
            <a:off x="5029200" y="7287768"/>
            <a:ext cx="2121408" cy="9144"/>
          </a:xfrm>
          <a:prstGeom prst="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M_HEADER_BG"/>
          <p:cNvSpPr/>
          <p:nvPr/>
        </p:nvSpPr>
        <p:spPr>
          <a:xfrm>
            <a:off x="411480" y="7342631"/>
            <a:ext cx="4416552" cy="260603"/>
          </a:xfrm>
          <a:prstGeom prst="rect">
            <a:avLst/>
          </a:prstGeom>
          <a:solidFill>
            <a:srgbClr val="F8FAFC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M_HEADER_MEASURE" descr="placeholder:M_HEADER_MEASURE"/>
          <p:cNvSpPr txBox="1"/>
          <p:nvPr/>
        </p:nvSpPr>
        <p:spPr>
          <a:xfrm>
            <a:off x="521208" y="7397496"/>
            <a:ext cx="2267712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80" b="1" i="0">
                <a:solidFill>
                  <a:srgbClr val="334155"/>
                </a:solidFill>
                <a:latin typeface="Aptos"/>
              </a:rPr>
              <a:t>Maßnahme</a:t>
            </a:r>
          </a:p>
        </p:txBody>
      </p:sp>
      <p:sp>
        <p:nvSpPr>
          <p:cNvPr id="92" name="M_HEADER_EFFORT" descr="placeholder:M_HEADER_EFFORT"/>
          <p:cNvSpPr txBox="1"/>
          <p:nvPr/>
        </p:nvSpPr>
        <p:spPr>
          <a:xfrm>
            <a:off x="2898648" y="7397496"/>
            <a:ext cx="768096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580" b="1" i="0">
                <a:solidFill>
                  <a:srgbClr val="334155"/>
                </a:solidFill>
                <a:latin typeface="Aptos"/>
              </a:rPr>
              <a:t>Aufwand</a:t>
            </a:r>
          </a:p>
        </p:txBody>
      </p:sp>
      <p:sp>
        <p:nvSpPr>
          <p:cNvPr id="93" name="M_HEADER_IMPACT" descr="placeholder:M_HEADER_IMPACT"/>
          <p:cNvSpPr txBox="1"/>
          <p:nvPr/>
        </p:nvSpPr>
        <p:spPr>
          <a:xfrm>
            <a:off x="3739896" y="7397496"/>
            <a:ext cx="105156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580" b="1" i="0">
                <a:solidFill>
                  <a:srgbClr val="334155"/>
                </a:solidFill>
                <a:latin typeface="Aptos"/>
              </a:rPr>
              <a:t>Wirkung</a:t>
            </a:r>
          </a:p>
        </p:txBody>
      </p:sp>
      <p:sp>
        <p:nvSpPr>
          <p:cNvPr id="94" name="M_VLINE"/>
          <p:cNvSpPr/>
          <p:nvPr/>
        </p:nvSpPr>
        <p:spPr>
          <a:xfrm>
            <a:off x="2862072" y="7342631"/>
            <a:ext cx="5486" cy="1824228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M_VLINE"/>
          <p:cNvSpPr/>
          <p:nvPr/>
        </p:nvSpPr>
        <p:spPr>
          <a:xfrm>
            <a:off x="3703320" y="7342631"/>
            <a:ext cx="5486" cy="1824228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M_ROW_1_BG"/>
          <p:cNvSpPr/>
          <p:nvPr/>
        </p:nvSpPr>
        <p:spPr>
          <a:xfrm>
            <a:off x="411480" y="7603236"/>
            <a:ext cx="4416552" cy="260603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M1_TITLE" descr="placeholder:M1_TITLE"/>
          <p:cNvSpPr txBox="1"/>
          <p:nvPr/>
        </p:nvSpPr>
        <p:spPr>
          <a:xfrm>
            <a:off x="521208" y="7667244"/>
            <a:ext cx="228600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35" b="0" i="0">
                <a:solidFill>
                  <a:srgbClr val="0F172A"/>
                </a:solidFill>
                <a:latin typeface="Aptos"/>
              </a:rPr>
              <a:t>1. Bewertungsantworten nachholen</a:t>
            </a:r>
          </a:p>
        </p:txBody>
      </p:sp>
      <p:sp>
        <p:nvSpPr>
          <p:cNvPr id="98" name="M1_EFFORT_BADGE"/>
          <p:cNvSpPr/>
          <p:nvPr/>
        </p:nvSpPr>
        <p:spPr>
          <a:xfrm>
            <a:off x="2980944" y="7653527"/>
            <a:ext cx="548640" cy="146304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92400E"/>
                </a:solidFill>
                <a:latin typeface="Aptos"/>
              </a:rPr>
              <a:t>mittel</a:t>
            </a:r>
          </a:p>
        </p:txBody>
      </p:sp>
      <p:sp>
        <p:nvSpPr>
          <p:cNvPr id="99" name="M1_IMPACT_BADGE"/>
          <p:cNvSpPr/>
          <p:nvPr/>
        </p:nvSpPr>
        <p:spPr>
          <a:xfrm>
            <a:off x="3867912" y="7653527"/>
            <a:ext cx="658368" cy="146304"/>
          </a:xfrm>
          <a:prstGeom prst="roundRect">
            <a:avLst/>
          </a:prstGeom>
          <a:solidFill>
            <a:srgbClr val="D1FAE5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065F46"/>
                </a:solidFill>
                <a:latin typeface="Aptos"/>
              </a:rPr>
              <a:t>hoch</a:t>
            </a:r>
          </a:p>
        </p:txBody>
      </p:sp>
      <p:sp>
        <p:nvSpPr>
          <p:cNvPr id="100" name="M_ROW_2_BG"/>
          <p:cNvSpPr/>
          <p:nvPr/>
        </p:nvSpPr>
        <p:spPr>
          <a:xfrm>
            <a:off x="411480" y="7863840"/>
            <a:ext cx="4416552" cy="260603"/>
          </a:xfrm>
          <a:prstGeom prst="rect">
            <a:avLst/>
          </a:prstGeom>
          <a:solidFill>
            <a:srgbClr val="FBFD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M2_TITLE" descr="placeholder:M2_TITLE"/>
          <p:cNvSpPr txBox="1"/>
          <p:nvPr/>
        </p:nvSpPr>
        <p:spPr>
          <a:xfrm>
            <a:off x="521208" y="7927848"/>
            <a:ext cx="228600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35" b="0" i="0">
                <a:solidFill>
                  <a:srgbClr val="0F172A"/>
                </a:solidFill>
                <a:latin typeface="Aptos"/>
              </a:rPr>
              <a:t>2. QR-Code für Bewertungen einrichten</a:t>
            </a:r>
          </a:p>
        </p:txBody>
      </p:sp>
      <p:sp>
        <p:nvSpPr>
          <p:cNvPr id="102" name="M2_EFFORT_BADGE"/>
          <p:cNvSpPr/>
          <p:nvPr/>
        </p:nvSpPr>
        <p:spPr>
          <a:xfrm>
            <a:off x="2980944" y="7914131"/>
            <a:ext cx="548640" cy="146304"/>
          </a:xfrm>
          <a:prstGeom prst="roundRect">
            <a:avLst/>
          </a:prstGeom>
          <a:solidFill>
            <a:srgbClr val="EAF8F1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065F46"/>
                </a:solidFill>
                <a:latin typeface="Aptos"/>
              </a:rPr>
              <a:t>gering</a:t>
            </a:r>
          </a:p>
        </p:txBody>
      </p:sp>
      <p:sp>
        <p:nvSpPr>
          <p:cNvPr id="103" name="M2_IMPACT_BADGE"/>
          <p:cNvSpPr/>
          <p:nvPr/>
        </p:nvSpPr>
        <p:spPr>
          <a:xfrm>
            <a:off x="3867912" y="7914131"/>
            <a:ext cx="658368" cy="146304"/>
          </a:xfrm>
          <a:prstGeom prst="roundRect">
            <a:avLst/>
          </a:prstGeom>
          <a:solidFill>
            <a:srgbClr val="D1FAE5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065F46"/>
                </a:solidFill>
                <a:latin typeface="Aptos"/>
              </a:rPr>
              <a:t>hoch</a:t>
            </a:r>
          </a:p>
        </p:txBody>
      </p:sp>
      <p:sp>
        <p:nvSpPr>
          <p:cNvPr id="104" name="M_ROW_3_BG"/>
          <p:cNvSpPr/>
          <p:nvPr/>
        </p:nvSpPr>
        <p:spPr>
          <a:xfrm>
            <a:off x="411480" y="8124444"/>
            <a:ext cx="4416552" cy="260603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M3_TITLE" descr="placeholder:M3_TITLE"/>
          <p:cNvSpPr txBox="1"/>
          <p:nvPr/>
        </p:nvSpPr>
        <p:spPr>
          <a:xfrm>
            <a:off x="521208" y="8188452"/>
            <a:ext cx="228600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35" b="0" i="0">
                <a:solidFill>
                  <a:srgbClr val="0F172A"/>
                </a:solidFill>
                <a:latin typeface="Aptos"/>
              </a:rPr>
              <a:t>3. 15 aktuelle Bilder hochladen</a:t>
            </a:r>
          </a:p>
        </p:txBody>
      </p:sp>
      <p:sp>
        <p:nvSpPr>
          <p:cNvPr id="106" name="M3_EFFORT_BADGE"/>
          <p:cNvSpPr/>
          <p:nvPr/>
        </p:nvSpPr>
        <p:spPr>
          <a:xfrm>
            <a:off x="2980944" y="8174736"/>
            <a:ext cx="548640" cy="146304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92400E"/>
                </a:solidFill>
                <a:latin typeface="Aptos"/>
              </a:rPr>
              <a:t>mittel</a:t>
            </a:r>
          </a:p>
        </p:txBody>
      </p:sp>
      <p:sp>
        <p:nvSpPr>
          <p:cNvPr id="107" name="M3_IMPACT_BADGE"/>
          <p:cNvSpPr/>
          <p:nvPr/>
        </p:nvSpPr>
        <p:spPr>
          <a:xfrm>
            <a:off x="3867912" y="8174736"/>
            <a:ext cx="658368" cy="146304"/>
          </a:xfrm>
          <a:prstGeom prst="roundRect">
            <a:avLst/>
          </a:prstGeom>
          <a:solidFill>
            <a:srgbClr val="D1FAE5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065F46"/>
                </a:solidFill>
                <a:latin typeface="Aptos"/>
              </a:rPr>
              <a:t>hoch</a:t>
            </a:r>
          </a:p>
        </p:txBody>
      </p:sp>
      <p:sp>
        <p:nvSpPr>
          <p:cNvPr id="108" name="M_ROW_4_BG"/>
          <p:cNvSpPr/>
          <p:nvPr/>
        </p:nvSpPr>
        <p:spPr>
          <a:xfrm>
            <a:off x="411480" y="8385048"/>
            <a:ext cx="4416552" cy="260603"/>
          </a:xfrm>
          <a:prstGeom prst="rect">
            <a:avLst/>
          </a:prstGeom>
          <a:solidFill>
            <a:srgbClr val="FBFD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M4_TITLE" descr="placeholder:M4_TITLE"/>
          <p:cNvSpPr txBox="1"/>
          <p:nvPr/>
        </p:nvSpPr>
        <p:spPr>
          <a:xfrm>
            <a:off x="521208" y="8449056"/>
            <a:ext cx="228600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35" b="0" i="0">
                <a:solidFill>
                  <a:srgbClr val="0F172A"/>
                </a:solidFill>
                <a:latin typeface="Aptos"/>
              </a:rPr>
              <a:t>4. Leistungen im Profil strukturieren</a:t>
            </a:r>
          </a:p>
        </p:txBody>
      </p:sp>
      <p:sp>
        <p:nvSpPr>
          <p:cNvPr id="110" name="M4_EFFORT_BADGE"/>
          <p:cNvSpPr/>
          <p:nvPr/>
        </p:nvSpPr>
        <p:spPr>
          <a:xfrm>
            <a:off x="2980944" y="8435340"/>
            <a:ext cx="548640" cy="146304"/>
          </a:xfrm>
          <a:prstGeom prst="roundRect">
            <a:avLst/>
          </a:prstGeom>
          <a:solidFill>
            <a:srgbClr val="EAF8F1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065F46"/>
                </a:solidFill>
                <a:latin typeface="Aptos"/>
              </a:rPr>
              <a:t>gering</a:t>
            </a:r>
          </a:p>
        </p:txBody>
      </p:sp>
      <p:sp>
        <p:nvSpPr>
          <p:cNvPr id="111" name="M4_IMPACT_BADGE"/>
          <p:cNvSpPr/>
          <p:nvPr/>
        </p:nvSpPr>
        <p:spPr>
          <a:xfrm>
            <a:off x="3867912" y="8435340"/>
            <a:ext cx="658368" cy="146304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92400E"/>
                </a:solidFill>
                <a:latin typeface="Aptos"/>
              </a:rPr>
              <a:t>mittel</a:t>
            </a:r>
          </a:p>
        </p:txBody>
      </p:sp>
      <p:sp>
        <p:nvSpPr>
          <p:cNvPr id="112" name="M_ROW_5_BG"/>
          <p:cNvSpPr/>
          <p:nvPr/>
        </p:nvSpPr>
        <p:spPr>
          <a:xfrm>
            <a:off x="411480" y="8645651"/>
            <a:ext cx="4416552" cy="260603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M5_TITLE" descr="placeholder:M5_TITLE"/>
          <p:cNvSpPr txBox="1"/>
          <p:nvPr/>
        </p:nvSpPr>
        <p:spPr>
          <a:xfrm>
            <a:off x="521208" y="8709659"/>
            <a:ext cx="228600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35" b="0" i="0">
                <a:solidFill>
                  <a:srgbClr val="0F172A"/>
                </a:solidFill>
                <a:latin typeface="Aptos"/>
              </a:rPr>
              <a:t>5. Google-Beschreibung optimieren</a:t>
            </a:r>
          </a:p>
        </p:txBody>
      </p:sp>
      <p:sp>
        <p:nvSpPr>
          <p:cNvPr id="114" name="M5_EFFORT_BADGE"/>
          <p:cNvSpPr/>
          <p:nvPr/>
        </p:nvSpPr>
        <p:spPr>
          <a:xfrm>
            <a:off x="2980944" y="8695943"/>
            <a:ext cx="548640" cy="146304"/>
          </a:xfrm>
          <a:prstGeom prst="roundRect">
            <a:avLst/>
          </a:prstGeom>
          <a:solidFill>
            <a:srgbClr val="EAF8F1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065F46"/>
                </a:solidFill>
                <a:latin typeface="Aptos"/>
              </a:rPr>
              <a:t>gering</a:t>
            </a:r>
          </a:p>
        </p:txBody>
      </p:sp>
      <p:sp>
        <p:nvSpPr>
          <p:cNvPr id="115" name="M5_IMPACT_BADGE"/>
          <p:cNvSpPr/>
          <p:nvPr/>
        </p:nvSpPr>
        <p:spPr>
          <a:xfrm>
            <a:off x="3867912" y="8695943"/>
            <a:ext cx="658368" cy="146304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92400E"/>
                </a:solidFill>
                <a:latin typeface="Aptos"/>
              </a:rPr>
              <a:t>mittel</a:t>
            </a:r>
          </a:p>
        </p:txBody>
      </p:sp>
      <p:sp>
        <p:nvSpPr>
          <p:cNvPr id="116" name="M_ROW_6_BG"/>
          <p:cNvSpPr/>
          <p:nvPr/>
        </p:nvSpPr>
        <p:spPr>
          <a:xfrm>
            <a:off x="411480" y="8906255"/>
            <a:ext cx="4416552" cy="260603"/>
          </a:xfrm>
          <a:prstGeom prst="rect">
            <a:avLst/>
          </a:prstGeom>
          <a:solidFill>
            <a:srgbClr val="FBFDFF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M6_TITLE" descr="placeholder:M6_TITLE"/>
          <p:cNvSpPr txBox="1"/>
          <p:nvPr/>
        </p:nvSpPr>
        <p:spPr>
          <a:xfrm>
            <a:off x="521208" y="8970263"/>
            <a:ext cx="228600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35" b="0" i="0">
                <a:solidFill>
                  <a:srgbClr val="0F172A"/>
                </a:solidFill>
                <a:latin typeface="Aptos"/>
              </a:rPr>
              <a:t>6. monatliche Review-Kontrolle einführen</a:t>
            </a:r>
          </a:p>
        </p:txBody>
      </p:sp>
      <p:sp>
        <p:nvSpPr>
          <p:cNvPr id="118" name="M6_EFFORT_BADGE"/>
          <p:cNvSpPr/>
          <p:nvPr/>
        </p:nvSpPr>
        <p:spPr>
          <a:xfrm>
            <a:off x="2980944" y="8956547"/>
            <a:ext cx="548640" cy="146304"/>
          </a:xfrm>
          <a:prstGeom prst="roundRect">
            <a:avLst/>
          </a:prstGeom>
          <a:solidFill>
            <a:srgbClr val="EAF8F1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065F46"/>
                </a:solidFill>
                <a:latin typeface="Aptos"/>
              </a:rPr>
              <a:t>gering</a:t>
            </a:r>
          </a:p>
        </p:txBody>
      </p:sp>
      <p:sp>
        <p:nvSpPr>
          <p:cNvPr id="119" name="M6_IMPACT_BADGE"/>
          <p:cNvSpPr/>
          <p:nvPr/>
        </p:nvSpPr>
        <p:spPr>
          <a:xfrm>
            <a:off x="3867912" y="8956547"/>
            <a:ext cx="658368" cy="146304"/>
          </a:xfrm>
          <a:prstGeom prst="roundRect">
            <a:avLst/>
          </a:prstGeom>
          <a:solidFill>
            <a:srgbClr val="D1FAE5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470" b="1">
                <a:solidFill>
                  <a:srgbClr val="065F46"/>
                </a:solidFill>
                <a:latin typeface="Aptos"/>
              </a:rPr>
              <a:t>hoch</a:t>
            </a:r>
          </a:p>
        </p:txBody>
      </p:sp>
      <p:sp>
        <p:nvSpPr>
          <p:cNvPr id="120" name="POTENTIAL_CARD"/>
          <p:cNvSpPr/>
          <p:nvPr/>
        </p:nvSpPr>
        <p:spPr>
          <a:xfrm>
            <a:off x="5029200" y="7342631"/>
            <a:ext cx="2121408" cy="1810512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POTENTIAL1_DOT"/>
          <p:cNvSpPr/>
          <p:nvPr/>
        </p:nvSpPr>
        <p:spPr>
          <a:xfrm>
            <a:off x="5248656" y="7589519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POTENTIAL1" descr="placeholder:POTENTIAL1"/>
          <p:cNvSpPr txBox="1"/>
          <p:nvPr/>
        </p:nvSpPr>
        <p:spPr>
          <a:xfrm>
            <a:off x="5413248" y="7552944"/>
            <a:ext cx="1508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620" b="0" i="0">
                <a:solidFill>
                  <a:srgbClr val="334155"/>
                </a:solidFill>
                <a:latin typeface="Aptos"/>
              </a:rPr>
              <a:t>Mehr Vertrauen bei Neukundinnen</a:t>
            </a:r>
          </a:p>
        </p:txBody>
      </p:sp>
      <p:sp>
        <p:nvSpPr>
          <p:cNvPr id="123" name="POTENTIAL2_DOT"/>
          <p:cNvSpPr/>
          <p:nvPr/>
        </p:nvSpPr>
        <p:spPr>
          <a:xfrm>
            <a:off x="5248656" y="7955279"/>
            <a:ext cx="73152" cy="731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POTENTIAL2" descr="placeholder:POTENTIAL2"/>
          <p:cNvSpPr txBox="1"/>
          <p:nvPr/>
        </p:nvSpPr>
        <p:spPr>
          <a:xfrm>
            <a:off x="5413248" y="7918704"/>
            <a:ext cx="1508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620" b="0" i="0">
                <a:solidFill>
                  <a:srgbClr val="334155"/>
                </a:solidFill>
                <a:latin typeface="Aptos"/>
              </a:rPr>
              <a:t>Besserer erster Eindruck</a:t>
            </a:r>
          </a:p>
        </p:txBody>
      </p:sp>
      <p:sp>
        <p:nvSpPr>
          <p:cNvPr id="125" name="POTENTIAL3_DOT"/>
          <p:cNvSpPr/>
          <p:nvPr/>
        </p:nvSpPr>
        <p:spPr>
          <a:xfrm>
            <a:off x="5248656" y="8321040"/>
            <a:ext cx="73152" cy="731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POTENTIAL3" descr="placeholder:POTENTIAL3"/>
          <p:cNvSpPr txBox="1"/>
          <p:nvPr/>
        </p:nvSpPr>
        <p:spPr>
          <a:xfrm>
            <a:off x="5413248" y="8284464"/>
            <a:ext cx="1508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620" b="0" i="0">
                <a:solidFill>
                  <a:srgbClr val="334155"/>
                </a:solidFill>
                <a:latin typeface="Aptos"/>
              </a:rPr>
              <a:t>Mehr Anfragen über Google Maps</a:t>
            </a:r>
          </a:p>
        </p:txBody>
      </p:sp>
      <p:sp>
        <p:nvSpPr>
          <p:cNvPr id="127" name="POTENTIAL4_DOT"/>
          <p:cNvSpPr/>
          <p:nvPr/>
        </p:nvSpPr>
        <p:spPr>
          <a:xfrm>
            <a:off x="5248656" y="8686800"/>
            <a:ext cx="73152" cy="731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POTENTIAL4" descr="placeholder:POTENTIAL4"/>
          <p:cNvSpPr txBox="1"/>
          <p:nvPr/>
        </p:nvSpPr>
        <p:spPr>
          <a:xfrm>
            <a:off x="5413248" y="8650224"/>
            <a:ext cx="15087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620" b="0" i="0">
                <a:solidFill>
                  <a:srgbClr val="334155"/>
                </a:solidFill>
                <a:latin typeface="Aptos"/>
              </a:rPr>
              <a:t>Mehr Stammkundinnen durch QR-/Loyalty-System</a:t>
            </a:r>
          </a:p>
        </p:txBody>
      </p:sp>
      <p:sp>
        <p:nvSpPr>
          <p:cNvPr id="129" name="NEXT_STEP_CARD"/>
          <p:cNvSpPr/>
          <p:nvPr/>
        </p:nvSpPr>
        <p:spPr>
          <a:xfrm>
            <a:off x="411480" y="9473184"/>
            <a:ext cx="6739128" cy="585216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NEXT_STEP_ICON"/>
          <p:cNvSpPr/>
          <p:nvPr/>
        </p:nvSpPr>
        <p:spPr>
          <a:xfrm>
            <a:off x="685800" y="9610344"/>
            <a:ext cx="256032" cy="25603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NEXT_STEP_ARROW" descr="placeholder:NEXT_STEP_ARROW"/>
          <p:cNvSpPr txBox="1"/>
          <p:nvPr/>
        </p:nvSpPr>
        <p:spPr>
          <a:xfrm>
            <a:off x="685800" y="9633204"/>
            <a:ext cx="256032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32" name="NEXT_STEP_TITLE" descr="placeholder:NEXT_STEP_TITLE"/>
          <p:cNvSpPr txBox="1"/>
          <p:nvPr/>
        </p:nvSpPr>
        <p:spPr>
          <a:xfrm>
            <a:off x="1051560" y="9592056"/>
            <a:ext cx="1645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950" b="1" i="0">
                <a:solidFill>
                  <a:srgbClr val="1D4ED8"/>
                </a:solidFill>
                <a:latin typeface="Aptos"/>
              </a:rPr>
              <a:t>Nächster Schritt</a:t>
            </a:r>
          </a:p>
        </p:txBody>
      </p:sp>
      <p:sp>
        <p:nvSpPr>
          <p:cNvPr id="133" name="NEXT_STEP_CTA" descr="placeholder:NEXT_STEP_CTA"/>
          <p:cNvSpPr txBox="1"/>
          <p:nvPr/>
        </p:nvSpPr>
        <p:spPr>
          <a:xfrm>
            <a:off x="2359152" y="9601200"/>
            <a:ext cx="4526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680" b="0">
                <a:solidFill>
                  <a:srgbClr val="475569"/>
                </a:solidFill>
                <a:latin typeface="Arial"/>
              </a:rPr>
              <a:t>{{NEXT_STEP_CTA}}</a:t>
            </a:r>
          </a:p>
        </p:txBody>
      </p:sp>
      <p:sp>
        <p:nvSpPr>
          <p:cNvPr id="134" name="FOOTER_LINE"/>
          <p:cNvSpPr/>
          <p:nvPr/>
        </p:nvSpPr>
        <p:spPr>
          <a:xfrm>
            <a:off x="411480" y="10222992"/>
            <a:ext cx="6739128" cy="5486"/>
          </a:xfrm>
          <a:prstGeom prst="rect">
            <a:avLst/>
          </a:prstGeom>
          <a:solidFill>
            <a:srgbClr val="E2E8F0"/>
          </a:solidFill>
          <a:ln w="889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AUDIT_FOOTER_CONTACT" descr="placeholder:AUDIT_FOOTER_CONTACT"/>
          <p:cNvSpPr txBox="1"/>
          <p:nvPr/>
        </p:nvSpPr>
        <p:spPr>
          <a:xfrm>
            <a:off x="411480" y="10323576"/>
            <a:ext cx="384048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70" b="0">
                <a:solidFill>
                  <a:srgbClr val="475569"/>
                </a:solidFill>
                <a:latin typeface="Arial"/>
              </a:rPr>
              <a:t>{{CONTACT_NAME}} | {{CONTACT_EMAIL}} | {{CONTACT_PHONE}}</a:t>
            </a:r>
          </a:p>
        </p:txBody>
      </p:sp>
      <p:sp>
        <p:nvSpPr>
          <p:cNvPr id="136" name="AUDIT_FOOTER_NOTE" descr="placeholder:AUDIT_FOOTER_NOTE"/>
          <p:cNvSpPr txBox="1"/>
          <p:nvPr/>
        </p:nvSpPr>
        <p:spPr>
          <a:xfrm>
            <a:off x="4343400" y="10323576"/>
            <a:ext cx="233172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520" b="0">
                <a:solidFill>
                  <a:srgbClr val="475569"/>
                </a:solidFill>
                <a:latin typeface="Arial"/>
              </a:rPr>
              <a:t>{{AUDIT_NOTE}}</a:t>
            </a:r>
          </a:p>
        </p:txBody>
      </p:sp>
      <p:sp>
        <p:nvSpPr>
          <p:cNvPr id="137" name="AUDIT_FOOTER_PAGE" descr="placeholder:AUDIT_FOOTER_PAGE"/>
          <p:cNvSpPr txBox="1"/>
          <p:nvPr/>
        </p:nvSpPr>
        <p:spPr>
          <a:xfrm>
            <a:off x="6720840" y="10323576"/>
            <a:ext cx="41148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/>
            <a:r>
              <a:rPr sz="520" b="0" i="0">
                <a:solidFill>
                  <a:srgbClr val="64748B"/>
                </a:solidFill>
                <a:latin typeface="Aptos"/>
              </a:rPr>
              <a:t>2 /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B_TITLE" descr="placeholder:LIB_TITLE"/>
          <p:cNvSpPr txBox="1"/>
          <p:nvPr/>
        </p:nvSpPr>
        <p:spPr>
          <a:xfrm>
            <a:off x="594360" y="594360"/>
            <a:ext cx="53035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2400" b="1">
                <a:solidFill>
                  <a:srgbClr val="0B1220"/>
                </a:solidFill>
                <a:latin typeface="Arial"/>
              </a:rPr>
              <a:t>Badge-, Ampel- &amp; Platzhalter-Bibliothek</a:t>
            </a:r>
          </a:p>
        </p:txBody>
      </p:sp>
      <p:sp>
        <p:nvSpPr>
          <p:cNvPr id="3" name="LIB_DESCRIPTION" descr="placeholder:LIB_DESCRIPTION"/>
          <p:cNvSpPr txBox="1"/>
          <p:nvPr/>
        </p:nvSpPr>
        <p:spPr>
          <a:xfrm>
            <a:off x="621792" y="1078992"/>
            <a:ext cx="612648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100">
                <a:solidFill>
                  <a:srgbClr val="475569"/>
                </a:solidFill>
                <a:latin typeface="Arial"/>
              </a:rPr>
              <a:t>Generator-Bibliothek für automatische Mini-Audits. Enthält Statusfarben, Level-Badges und sichtbare Placeholder-Konventionen. Diese Folie nicht löschen.</a:t>
            </a:r>
          </a:p>
        </p:txBody>
      </p:sp>
      <p:sp>
        <p:nvSpPr>
          <p:cNvPr id="4" name="LIB_STATUS_SECTION" descr="placeholder:LIB_STATUS_SECTION"/>
          <p:cNvSpPr txBox="1"/>
          <p:nvPr/>
        </p:nvSpPr>
        <p:spPr>
          <a:xfrm>
            <a:off x="594360" y="1645920"/>
            <a:ext cx="6217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Aptos"/>
              </a:rPr>
              <a:t>A. Statuswerte Kurz-Check</a:t>
            </a:r>
          </a:p>
        </p:txBody>
      </p:sp>
      <p:sp>
        <p:nvSpPr>
          <p:cNvPr id="5" name="LIB_STATUS_SECTION_UNDERLINE"/>
          <p:cNvSpPr/>
          <p:nvPr/>
        </p:nvSpPr>
        <p:spPr>
          <a:xfrm>
            <a:off x="594360" y="1938528"/>
            <a:ext cx="6217920" cy="9144"/>
          </a:xfrm>
          <a:prstGeom prst="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IB_STATUS_KRITISCH_DOT"/>
          <p:cNvSpPr/>
          <p:nvPr/>
        </p:nvSpPr>
        <p:spPr>
          <a:xfrm>
            <a:off x="777240" y="2176272"/>
            <a:ext cx="146304" cy="146304"/>
          </a:xfrm>
          <a:prstGeom prst="ellipse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IB_STATUS_KRITISCH_BADGE"/>
          <p:cNvSpPr/>
          <p:nvPr/>
        </p:nvSpPr>
        <p:spPr>
          <a:xfrm>
            <a:off x="1078992" y="2103120"/>
            <a:ext cx="1143000" cy="292608"/>
          </a:xfrm>
          <a:prstGeom prst="roundRect">
            <a:avLst/>
          </a:prstGeom>
          <a:solidFill>
            <a:srgbClr val="FCE7EE"/>
          </a:solidFill>
          <a:ln w="762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900" b="1">
                <a:solidFill>
                  <a:srgbClr val="BE123C"/>
                </a:solidFill>
                <a:latin typeface="Aptos"/>
              </a:rPr>
              <a:t>kritisch</a:t>
            </a:r>
          </a:p>
        </p:txBody>
      </p:sp>
      <p:sp>
        <p:nvSpPr>
          <p:cNvPr id="8" name="LIB_STATUS_KRITISCH_META" descr="placeholder:LIB_STATUS_KRITISCH_META"/>
          <p:cNvSpPr txBox="1"/>
          <p:nvPr/>
        </p:nvSpPr>
        <p:spPr>
          <a:xfrm>
            <a:off x="2514600" y="2148839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Aptos"/>
              </a:rPr>
              <a:t>value: "kritisch"  ·  bg: #FCE7EE  ·  text: #BE123C</a:t>
            </a:r>
          </a:p>
        </p:txBody>
      </p:sp>
      <p:sp>
        <p:nvSpPr>
          <p:cNvPr id="9" name="LIB_STATUS_BEDINGT_DOT"/>
          <p:cNvSpPr/>
          <p:nvPr/>
        </p:nvSpPr>
        <p:spPr>
          <a:xfrm>
            <a:off x="777240" y="2679191"/>
            <a:ext cx="146304" cy="14630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IB_STATUS_BEDINGT_BADGE"/>
          <p:cNvSpPr/>
          <p:nvPr/>
        </p:nvSpPr>
        <p:spPr>
          <a:xfrm>
            <a:off x="1078992" y="2606039"/>
            <a:ext cx="1143000" cy="292608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900" b="1">
                <a:solidFill>
                  <a:srgbClr val="92400E"/>
                </a:solidFill>
                <a:latin typeface="Aptos"/>
              </a:rPr>
              <a:t>bedingt</a:t>
            </a:r>
          </a:p>
        </p:txBody>
      </p:sp>
      <p:sp>
        <p:nvSpPr>
          <p:cNvPr id="11" name="LIB_STATUS_BEDINGT_META" descr="placeholder:LIB_STATUS_BEDINGT_META"/>
          <p:cNvSpPr txBox="1"/>
          <p:nvPr/>
        </p:nvSpPr>
        <p:spPr>
          <a:xfrm>
            <a:off x="2514600" y="2651759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Aptos"/>
              </a:rPr>
              <a:t>value: "bedingt"  ·  bg: #FEF3C7  ·  text: #92400E</a:t>
            </a:r>
          </a:p>
        </p:txBody>
      </p:sp>
      <p:sp>
        <p:nvSpPr>
          <p:cNvPr id="12" name="LIB_STATUS_STARK_DOT"/>
          <p:cNvSpPr/>
          <p:nvPr/>
        </p:nvSpPr>
        <p:spPr>
          <a:xfrm>
            <a:off x="777240" y="3182112"/>
            <a:ext cx="146304" cy="146304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B_STATUS_STARK_BADGE"/>
          <p:cNvSpPr/>
          <p:nvPr/>
        </p:nvSpPr>
        <p:spPr>
          <a:xfrm>
            <a:off x="1078992" y="3108960"/>
            <a:ext cx="1143000" cy="292608"/>
          </a:xfrm>
          <a:prstGeom prst="roundRect">
            <a:avLst/>
          </a:prstGeom>
          <a:solidFill>
            <a:srgbClr val="D1FAE5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900" b="1">
                <a:solidFill>
                  <a:srgbClr val="065F46"/>
                </a:solidFill>
                <a:latin typeface="Aptos"/>
              </a:rPr>
              <a:t>stark</a:t>
            </a:r>
          </a:p>
        </p:txBody>
      </p:sp>
      <p:sp>
        <p:nvSpPr>
          <p:cNvPr id="14" name="LIB_STATUS_STARK_META" descr="placeholder:LIB_STATUS_STARK_META"/>
          <p:cNvSpPr txBox="1"/>
          <p:nvPr/>
        </p:nvSpPr>
        <p:spPr>
          <a:xfrm>
            <a:off x="2514600" y="3154679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Aptos"/>
              </a:rPr>
              <a:t>value: "stark"  ·  bg: #D1FAE5  ·  text: #065F46</a:t>
            </a:r>
          </a:p>
        </p:txBody>
      </p:sp>
      <p:sp>
        <p:nvSpPr>
          <p:cNvPr id="15" name="LIB_MEASURE_SECTION" descr="placeholder:LIB_MEASURE_SECTION"/>
          <p:cNvSpPr txBox="1"/>
          <p:nvPr/>
        </p:nvSpPr>
        <p:spPr>
          <a:xfrm>
            <a:off x="594360" y="3840480"/>
            <a:ext cx="6217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Aptos"/>
              </a:rPr>
              <a:t>B. Aufwand / Wirkung</a:t>
            </a:r>
          </a:p>
        </p:txBody>
      </p:sp>
      <p:sp>
        <p:nvSpPr>
          <p:cNvPr id="16" name="LIB_MEASURE_SECTION_UNDERLINE"/>
          <p:cNvSpPr/>
          <p:nvPr/>
        </p:nvSpPr>
        <p:spPr>
          <a:xfrm>
            <a:off x="594360" y="4133088"/>
            <a:ext cx="6217920" cy="9144"/>
          </a:xfrm>
          <a:prstGeom prst="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IB_LEVEL_1_BADGE"/>
          <p:cNvSpPr/>
          <p:nvPr/>
        </p:nvSpPr>
        <p:spPr>
          <a:xfrm>
            <a:off x="777240" y="4297680"/>
            <a:ext cx="1234440" cy="292608"/>
          </a:xfrm>
          <a:prstGeom prst="roundRect">
            <a:avLst/>
          </a:prstGeom>
          <a:solidFill>
            <a:srgbClr val="EAF8F1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800" b="1">
                <a:solidFill>
                  <a:srgbClr val="065F46"/>
                </a:solidFill>
                <a:latin typeface="Aptos"/>
              </a:rPr>
              <a:t>gering</a:t>
            </a:r>
          </a:p>
        </p:txBody>
      </p:sp>
      <p:sp>
        <p:nvSpPr>
          <p:cNvPr id="18" name="LIB_LEVEL_1_META" descr="placeholder:LIB_LEVEL_1_META"/>
          <p:cNvSpPr txBox="1"/>
          <p:nvPr/>
        </p:nvSpPr>
        <p:spPr>
          <a:xfrm>
            <a:off x="2514600" y="434340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Aptos"/>
              </a:rPr>
              <a:t>value: "gering"  ·  bg: #EAF8F1  ·  text: #065F46</a:t>
            </a:r>
          </a:p>
        </p:txBody>
      </p:sp>
      <p:sp>
        <p:nvSpPr>
          <p:cNvPr id="19" name="LIB_LEVEL_2_BADGE"/>
          <p:cNvSpPr/>
          <p:nvPr/>
        </p:nvSpPr>
        <p:spPr>
          <a:xfrm>
            <a:off x="777240" y="4800600"/>
            <a:ext cx="1234440" cy="292608"/>
          </a:xfrm>
          <a:prstGeom prst="roundRect">
            <a:avLst/>
          </a:prstGeom>
          <a:solidFill>
            <a:srgbClr val="FEF3C7"/>
          </a:solidFill>
          <a:ln w="76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800" b="1">
                <a:solidFill>
                  <a:srgbClr val="92400E"/>
                </a:solidFill>
                <a:latin typeface="Aptos"/>
              </a:rPr>
              <a:t>mittel</a:t>
            </a:r>
          </a:p>
        </p:txBody>
      </p:sp>
      <p:sp>
        <p:nvSpPr>
          <p:cNvPr id="20" name="LIB_LEVEL_2_META" descr="placeholder:LIB_LEVEL_2_META"/>
          <p:cNvSpPr txBox="1"/>
          <p:nvPr/>
        </p:nvSpPr>
        <p:spPr>
          <a:xfrm>
            <a:off x="2514600" y="484632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Aptos"/>
              </a:rPr>
              <a:t>value: "mittel"  ·  bg: #FEF3C7  ·  text: #92400E</a:t>
            </a:r>
          </a:p>
        </p:txBody>
      </p:sp>
      <p:sp>
        <p:nvSpPr>
          <p:cNvPr id="21" name="LIB_LEVEL_3_BADGE"/>
          <p:cNvSpPr/>
          <p:nvPr/>
        </p:nvSpPr>
        <p:spPr>
          <a:xfrm>
            <a:off x="777240" y="5303520"/>
            <a:ext cx="1234440" cy="292608"/>
          </a:xfrm>
          <a:prstGeom prst="roundRect">
            <a:avLst/>
          </a:prstGeom>
          <a:solidFill>
            <a:srgbClr val="EDE9FE"/>
          </a:solidFill>
          <a:ln w="762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800" b="1">
                <a:solidFill>
                  <a:srgbClr val="5B21B6"/>
                </a:solidFill>
                <a:latin typeface="Aptos"/>
              </a:rPr>
              <a:t>mittel bis hoch</a:t>
            </a:r>
          </a:p>
        </p:txBody>
      </p:sp>
      <p:sp>
        <p:nvSpPr>
          <p:cNvPr id="22" name="LIB_LEVEL_3_META" descr="placeholder:LIB_LEVEL_3_META"/>
          <p:cNvSpPr txBox="1"/>
          <p:nvPr/>
        </p:nvSpPr>
        <p:spPr>
          <a:xfrm>
            <a:off x="2514600" y="534924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Aptos"/>
              </a:rPr>
              <a:t>value: "mittel bis hoch"  ·  bg: #EDE9FE  ·  text: #5B21B6</a:t>
            </a:r>
          </a:p>
        </p:txBody>
      </p:sp>
      <p:sp>
        <p:nvSpPr>
          <p:cNvPr id="23" name="LIB_LEVEL_4_BADGE"/>
          <p:cNvSpPr/>
          <p:nvPr/>
        </p:nvSpPr>
        <p:spPr>
          <a:xfrm>
            <a:off x="777240" y="5806440"/>
            <a:ext cx="1234440" cy="292608"/>
          </a:xfrm>
          <a:prstGeom prst="roundRect">
            <a:avLst/>
          </a:prstGeom>
          <a:solidFill>
            <a:srgbClr val="D1FAE5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0" bIns="0">
            <a:noAutofit/>
          </a:bodyPr>
          <a:lstStyle/>
          <a:p>
            <a:pPr algn="ctr"/>
            <a:r>
              <a:rPr sz="800" b="1">
                <a:solidFill>
                  <a:srgbClr val="065F46"/>
                </a:solidFill>
                <a:latin typeface="Aptos"/>
              </a:rPr>
              <a:t>hoch</a:t>
            </a:r>
          </a:p>
        </p:txBody>
      </p:sp>
      <p:sp>
        <p:nvSpPr>
          <p:cNvPr id="24" name="LIB_LEVEL_4_META" descr="placeholder:LIB_LEVEL_4_META"/>
          <p:cNvSpPr txBox="1"/>
          <p:nvPr/>
        </p:nvSpPr>
        <p:spPr>
          <a:xfrm>
            <a:off x="2514600" y="5852160"/>
            <a:ext cx="34747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750" b="0" i="0">
                <a:solidFill>
                  <a:srgbClr val="334155"/>
                </a:solidFill>
                <a:latin typeface="Aptos"/>
              </a:rPr>
              <a:t>value: "hoch"  ·  bg: #D1FAE5  ·  text: #065F46</a:t>
            </a:r>
          </a:p>
        </p:txBody>
      </p:sp>
      <p:sp>
        <p:nvSpPr>
          <p:cNvPr id="25" name="LIB_PLACEHOLDER_SECTION" descr="placeholder:LIB_PLACEHOLDER_SECTION"/>
          <p:cNvSpPr txBox="1"/>
          <p:nvPr/>
        </p:nvSpPr>
        <p:spPr>
          <a:xfrm>
            <a:off x="594360" y="6675120"/>
            <a:ext cx="6217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50" b="1" i="0">
                <a:solidFill>
                  <a:srgbClr val="0F172A"/>
                </a:solidFill>
                <a:latin typeface="Aptos"/>
              </a:rPr>
              <a:t>C. Platzhalter-Konvention</a:t>
            </a:r>
          </a:p>
        </p:txBody>
      </p:sp>
      <p:sp>
        <p:nvSpPr>
          <p:cNvPr id="26" name="LIB_PLACEHOLDER_SECTION_UNDERLINE"/>
          <p:cNvSpPr/>
          <p:nvPr/>
        </p:nvSpPr>
        <p:spPr>
          <a:xfrm>
            <a:off x="594360" y="6967728"/>
            <a:ext cx="6217920" cy="9144"/>
          </a:xfrm>
          <a:prstGeom prst="rect">
            <a:avLst/>
          </a:prstGeom>
          <a:solidFill>
            <a:srgbClr val="2563EB"/>
          </a:solidFill>
          <a:ln w="889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IB_PLACEHOLDER_TEXT" descr="placeholder:LIB_PLACEHOLDER_TEXT"/>
          <p:cNvSpPr txBox="1"/>
          <p:nvPr/>
        </p:nvSpPr>
        <p:spPr>
          <a:xfrm>
            <a:off x="777240" y="7132320"/>
            <a:ext cx="5989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019">
                <a:solidFill>
                  <a:srgbClr val="475569"/>
                </a:solidFill>
                <a:latin typeface="Arial"/>
              </a:rPr>
              <a:t>Cover: {{CLIENT_NAME}}, {{BRANCH}}, {{LOCATION}}, {{AUDIT_DATE}}, {{AVG_RATING}}, {{REVIEWS_COUNT}}, {{OVERALL_SUMMARY_SHORT}}</a:t>
            </a:r>
          </a:p>
          <a:p>
            <a:pPr algn="l"/>
            <a:r>
              <a:rPr sz="1019">
                <a:solidFill>
                  <a:srgbClr val="475569"/>
                </a:solidFill>
                <a:latin typeface="Arial"/>
              </a:rPr>
              <a:t>Audit: {{OVERALL_STATUS}}, {{OVERALL_SUMMARY}}, {{KC1_STATUS}}…{{KC7_STATUS}}, {{KC1_NOTE}}…{{KC7_NOTE}}</a:t>
            </a:r>
          </a:p>
          <a:p>
            <a:pPr algn="l"/>
            <a:r>
              <a:rPr sz="1019">
                <a:solidFill>
                  <a:srgbClr val="475569"/>
                </a:solidFill>
                <a:latin typeface="Arial"/>
              </a:rPr>
              <a:t>Maßnahmen: {{M1_TITLE}}…{{M6_TITLE}}, {{M1_EFFORT}}…{{M6_EFFORT}}, {{M1_IMPACT}}…{{M6_IMPACT}}</a:t>
            </a:r>
          </a:p>
          <a:p>
            <a:pPr algn="l"/>
            <a:r>
              <a:rPr sz="1019">
                <a:solidFill>
                  <a:srgbClr val="475569"/>
                </a:solidFill>
                <a:latin typeface="Arial"/>
              </a:rPr>
              <a:t>Footer/CTA: {{NEXT_STEP_CTA}}, {{CONTACT_NAME}}, {{CONTACT_EMAIL}}, {{CONTACT_PHONE}}, {{AUDIT_NOTE}}</a:t>
            </a:r>
          </a:p>
        </p:txBody>
      </p:sp>
      <p:sp>
        <p:nvSpPr>
          <p:cNvPr id="28" name="LIB_DO_NOT_DELETE_CARD"/>
          <p:cNvSpPr/>
          <p:nvPr/>
        </p:nvSpPr>
        <p:spPr>
          <a:xfrm>
            <a:off x="777240" y="8028431"/>
            <a:ext cx="59893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IB_DO_NOT_DELETE_PLACEHOLDER" descr="placeholder:LIB_DO_NOT_DELETE_PLACEHOLDER"/>
          <p:cNvSpPr txBox="1"/>
          <p:nvPr/>
        </p:nvSpPr>
        <p:spPr>
          <a:xfrm>
            <a:off x="1005840" y="8357616"/>
            <a:ext cx="5532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00" b="1" i="0">
                <a:solidFill>
                  <a:srgbClr val="BE123C"/>
                </a:solidFill>
                <a:latin typeface="Aptos"/>
              </a:rPr>
              <a:t>BADGE LIBRARY - DO NOT DELETE</a:t>
            </a:r>
          </a:p>
        </p:txBody>
      </p:sp>
      <p:sp>
        <p:nvSpPr>
          <p:cNvPr id="30" name="LIB_FOOTER_PAGE" descr="placeholder:LIB_FOOTER_PAGE"/>
          <p:cNvSpPr txBox="1"/>
          <p:nvPr/>
        </p:nvSpPr>
        <p:spPr>
          <a:xfrm>
            <a:off x="6720840" y="10323576"/>
            <a:ext cx="41148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/>
            <a:r>
              <a:rPr sz="520" b="0" i="0">
                <a:solidFill>
                  <a:srgbClr val="64748B"/>
                </a:solidFill>
                <a:latin typeface="Apto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MMOS Mini Audit Template - Clean Final Generator Ready</dc:title>
  <dc:subject>Generator-ready A4 portrait PowerPoint template for Mini Audit generation</dc:subject>
  <dc:creator>Mecklenburg Marketing / Dominique Zapf</dc:creator>
  <cp:keywords>mini audit, google business profile, badge library, generator-ready, MMOS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